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Squada One" charset="1" panose="02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https://en.wikipedia.org/wiki/Nonlinear" TargetMode="External" Type="http://schemas.openxmlformats.org/officeDocument/2006/relationships/hyperlink"/><Relationship Id="rId12" Target="https://en.wikipedia.org/wiki/Kalman_filter" TargetMode="External" Type="http://schemas.openxmlformats.org/officeDocument/2006/relationships/hyperlink"/><Relationship Id="rId13" Target="https://en.wikipedia.org/wiki/Kalman_filter" TargetMode="External" Type="http://schemas.openxmlformats.org/officeDocument/2006/relationships/hyperlink"/><Relationship Id="rId14" Target="https://en.wikipedia.org/wiki/Mean" TargetMode="External" Type="http://schemas.openxmlformats.org/officeDocument/2006/relationships/hyperlink"/><Relationship Id="rId15" Target="https://en.wikipedia.org/wiki/Covariance" TargetMode="External" Type="http://schemas.openxmlformats.org/officeDocument/2006/relationships/hyperlink"/><Relationship Id="rId2" Target="../media/image1.jpeg" Type="http://schemas.openxmlformats.org/officeDocument/2006/relationships/image"/><Relationship Id="rId3" Target="../media/image8.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2892494" y="1580320"/>
            <a:ext cx="12503012" cy="3086100"/>
            <a:chOff x="0" y="0"/>
            <a:chExt cx="3292974" cy="812800"/>
          </a:xfrm>
        </p:grpSpPr>
        <p:sp>
          <p:nvSpPr>
            <p:cNvPr name="Freeform 4" id="4"/>
            <p:cNvSpPr/>
            <p:nvPr/>
          </p:nvSpPr>
          <p:spPr>
            <a:xfrm flipH="false" flipV="false" rot="0">
              <a:off x="0" y="0"/>
              <a:ext cx="3292974" cy="812800"/>
            </a:xfrm>
            <a:custGeom>
              <a:avLst/>
              <a:gdLst/>
              <a:ahLst/>
              <a:cxnLst/>
              <a:rect r="r" b="b" t="t" l="l"/>
              <a:pathLst>
                <a:path h="812800" w="3292974">
                  <a:moveTo>
                    <a:pt x="0" y="0"/>
                  </a:moveTo>
                  <a:lnTo>
                    <a:pt x="3292974" y="0"/>
                  </a:lnTo>
                  <a:lnTo>
                    <a:pt x="3292974" y="812800"/>
                  </a:lnTo>
                  <a:lnTo>
                    <a:pt x="0" y="812800"/>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3292974" cy="860425"/>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477787" y="1634776"/>
            <a:ext cx="11332427" cy="2672389"/>
          </a:xfrm>
          <a:prstGeom prst="rect">
            <a:avLst/>
          </a:prstGeom>
        </p:spPr>
        <p:txBody>
          <a:bodyPr anchor="t" rtlCol="false" tIns="0" lIns="0" bIns="0" rIns="0">
            <a:spAutoFit/>
          </a:bodyPr>
          <a:lstStyle/>
          <a:p>
            <a:pPr algn="ctr">
              <a:lnSpc>
                <a:spcPts val="21752"/>
              </a:lnSpc>
            </a:pPr>
            <a:r>
              <a:rPr lang="en-US" sz="15537" spc="310">
                <a:solidFill>
                  <a:srgbClr val="503530"/>
                </a:solidFill>
                <a:latin typeface="Squada One"/>
                <a:ea typeface="Squada One"/>
                <a:cs typeface="Squada One"/>
                <a:sym typeface="Squada One"/>
              </a:rPr>
              <a:t>KALMAN FILTER</a:t>
            </a:r>
          </a:p>
        </p:txBody>
      </p:sp>
      <p:grpSp>
        <p:nvGrpSpPr>
          <p:cNvPr name="Group 7" id="7"/>
          <p:cNvGrpSpPr/>
          <p:nvPr/>
        </p:nvGrpSpPr>
        <p:grpSpPr>
          <a:xfrm rot="0">
            <a:off x="3591770" y="5143500"/>
            <a:ext cx="11104460" cy="2153733"/>
            <a:chOff x="0" y="0"/>
            <a:chExt cx="2924632" cy="567238"/>
          </a:xfrm>
        </p:grpSpPr>
        <p:sp>
          <p:nvSpPr>
            <p:cNvPr name="Freeform 8" id="8"/>
            <p:cNvSpPr/>
            <p:nvPr/>
          </p:nvSpPr>
          <p:spPr>
            <a:xfrm flipH="false" flipV="false" rot="0">
              <a:off x="0" y="0"/>
              <a:ext cx="2924632" cy="567238"/>
            </a:xfrm>
            <a:custGeom>
              <a:avLst/>
              <a:gdLst/>
              <a:ahLst/>
              <a:cxnLst/>
              <a:rect r="r" b="b" t="t" l="l"/>
              <a:pathLst>
                <a:path h="567238" w="2924632">
                  <a:moveTo>
                    <a:pt x="0" y="0"/>
                  </a:moveTo>
                  <a:lnTo>
                    <a:pt x="2924632" y="0"/>
                  </a:lnTo>
                  <a:lnTo>
                    <a:pt x="2924632" y="567238"/>
                  </a:lnTo>
                  <a:lnTo>
                    <a:pt x="0" y="567238"/>
                  </a:lnTo>
                  <a:close/>
                </a:path>
              </a:pathLst>
            </a:custGeom>
            <a:solidFill>
              <a:srgbClr val="FFF3C2"/>
            </a:solidFill>
            <a:ln w="95250" cap="sq">
              <a:solidFill>
                <a:srgbClr val="FFFFFF"/>
              </a:solidFill>
              <a:prstDash val="solid"/>
              <a:miter/>
            </a:ln>
          </p:spPr>
        </p:sp>
        <p:sp>
          <p:nvSpPr>
            <p:cNvPr name="TextBox 9" id="9"/>
            <p:cNvSpPr txBox="true"/>
            <p:nvPr/>
          </p:nvSpPr>
          <p:spPr>
            <a:xfrm>
              <a:off x="0" y="-47625"/>
              <a:ext cx="2924632" cy="614863"/>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967515" y="5230719"/>
            <a:ext cx="10352969" cy="922019"/>
          </a:xfrm>
          <a:prstGeom prst="rect">
            <a:avLst/>
          </a:prstGeom>
        </p:spPr>
        <p:txBody>
          <a:bodyPr anchor="t" rtlCol="false" tIns="0" lIns="0" bIns="0" rIns="0">
            <a:spAutoFit/>
          </a:bodyPr>
          <a:lstStyle/>
          <a:p>
            <a:pPr algn="ctr">
              <a:lnSpc>
                <a:spcPts val="7455"/>
              </a:lnSpc>
            </a:pPr>
            <a:r>
              <a:rPr lang="en-US" sz="5325" spc="106">
                <a:solidFill>
                  <a:srgbClr val="503530"/>
                </a:solidFill>
                <a:latin typeface="Squada One"/>
                <a:ea typeface="Squada One"/>
                <a:cs typeface="Squada One"/>
                <a:sym typeface="Squada One"/>
              </a:rPr>
              <a:t>practical princuples &amp; usage</a:t>
            </a:r>
          </a:p>
        </p:txBody>
      </p:sp>
      <p:sp>
        <p:nvSpPr>
          <p:cNvPr name="TextBox 11" id="11"/>
          <p:cNvSpPr txBox="true"/>
          <p:nvPr/>
        </p:nvSpPr>
        <p:spPr>
          <a:xfrm rot="0">
            <a:off x="7379304" y="6263131"/>
            <a:ext cx="3242310" cy="705486"/>
          </a:xfrm>
          <a:prstGeom prst="rect">
            <a:avLst/>
          </a:prstGeom>
        </p:spPr>
        <p:txBody>
          <a:bodyPr anchor="t" rtlCol="false" tIns="0" lIns="0" bIns="0" rIns="0">
            <a:spAutoFit/>
          </a:bodyPr>
          <a:lstStyle/>
          <a:p>
            <a:pPr algn="ctr">
              <a:lnSpc>
                <a:spcPts val="5739"/>
              </a:lnSpc>
              <a:spcBef>
                <a:spcPct val="0"/>
              </a:spcBef>
            </a:pPr>
            <a:r>
              <a:rPr lang="en-US" sz="4099" spc="61">
                <a:solidFill>
                  <a:srgbClr val="503530"/>
                </a:solidFill>
                <a:latin typeface="Squada One"/>
                <a:ea typeface="Squada One"/>
                <a:cs typeface="Squada One"/>
                <a:sym typeface="Squada One"/>
              </a:rPr>
              <a:t>and a little math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4066634"/>
            <a:ext cx="7685780" cy="2153733"/>
            <a:chOff x="0" y="0"/>
            <a:chExt cx="2024238" cy="567238"/>
          </a:xfrm>
        </p:grpSpPr>
        <p:sp>
          <p:nvSpPr>
            <p:cNvPr name="Freeform 4" id="4"/>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D9C2"/>
            </a:solidFill>
            <a:ln w="95250" cap="sq">
              <a:solidFill>
                <a:srgbClr val="FFFFFF"/>
              </a:solidFill>
              <a:prstDash val="solid"/>
              <a:miter/>
            </a:ln>
          </p:spPr>
        </p:sp>
        <p:sp>
          <p:nvSpPr>
            <p:cNvPr name="TextBox 5" id="5"/>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573520" y="1028700"/>
            <a:ext cx="7685780" cy="2153733"/>
            <a:chOff x="0" y="0"/>
            <a:chExt cx="2024238" cy="567238"/>
          </a:xfrm>
        </p:grpSpPr>
        <p:sp>
          <p:nvSpPr>
            <p:cNvPr name="Freeform 7" id="7"/>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8" id="8"/>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573520" y="4066634"/>
            <a:ext cx="7685780" cy="2153733"/>
            <a:chOff x="0" y="0"/>
            <a:chExt cx="2024238" cy="567238"/>
          </a:xfrm>
        </p:grpSpPr>
        <p:sp>
          <p:nvSpPr>
            <p:cNvPr name="Freeform 10" id="10"/>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11" id="11"/>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9573520" y="7104567"/>
            <a:ext cx="7685780" cy="2153733"/>
            <a:chOff x="0" y="0"/>
            <a:chExt cx="2024238" cy="567238"/>
          </a:xfrm>
        </p:grpSpPr>
        <p:sp>
          <p:nvSpPr>
            <p:cNvPr name="Freeform 13" id="13"/>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14" id="14"/>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5976971" y="1535355"/>
            <a:ext cx="3167029" cy="2314810"/>
          </a:xfrm>
          <a:custGeom>
            <a:avLst/>
            <a:gdLst/>
            <a:ahLst/>
            <a:cxnLst/>
            <a:rect r="r" b="b" t="t" l="l"/>
            <a:pathLst>
              <a:path h="2314810" w="3167029">
                <a:moveTo>
                  <a:pt x="0" y="0"/>
                </a:moveTo>
                <a:lnTo>
                  <a:pt x="3167029" y="0"/>
                </a:lnTo>
                <a:lnTo>
                  <a:pt x="3167029" y="2314810"/>
                </a:lnTo>
                <a:lnTo>
                  <a:pt x="0" y="23148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727976" y="4570730"/>
            <a:ext cx="6287228" cy="1021716"/>
          </a:xfrm>
          <a:prstGeom prst="rect">
            <a:avLst/>
          </a:prstGeom>
        </p:spPr>
        <p:txBody>
          <a:bodyPr anchor="t" rtlCol="false" tIns="0" lIns="0" bIns="0" rIns="0">
            <a:spAutoFit/>
          </a:bodyPr>
          <a:lstStyle/>
          <a:p>
            <a:pPr algn="ctr">
              <a:lnSpc>
                <a:spcPts val="8259"/>
              </a:lnSpc>
            </a:pPr>
            <a:r>
              <a:rPr lang="en-US" sz="5899" spc="88">
                <a:solidFill>
                  <a:srgbClr val="000000"/>
                </a:solidFill>
                <a:latin typeface="Squada One"/>
                <a:ea typeface="Squada One"/>
                <a:cs typeface="Squada One"/>
                <a:sym typeface="Squada One"/>
              </a:rPr>
              <a:t>today’s focus :</a:t>
            </a:r>
          </a:p>
        </p:txBody>
      </p:sp>
      <p:sp>
        <p:nvSpPr>
          <p:cNvPr name="TextBox 17" id="17"/>
          <p:cNvSpPr txBox="true"/>
          <p:nvPr/>
        </p:nvSpPr>
        <p:spPr>
          <a:xfrm rot="0">
            <a:off x="9573520" y="4731385"/>
            <a:ext cx="7685780" cy="738505"/>
          </a:xfrm>
          <a:prstGeom prst="rect">
            <a:avLst/>
          </a:prstGeom>
        </p:spPr>
        <p:txBody>
          <a:bodyPr anchor="t" rtlCol="false" tIns="0" lIns="0" bIns="0" rIns="0">
            <a:spAutoFit/>
          </a:bodyPr>
          <a:lstStyle/>
          <a:p>
            <a:pPr algn="ctr">
              <a:lnSpc>
                <a:spcPts val="6019"/>
              </a:lnSpc>
            </a:pPr>
            <a:r>
              <a:rPr lang="en-US" sz="4299" spc="85">
                <a:solidFill>
                  <a:srgbClr val="503530"/>
                </a:solidFill>
                <a:latin typeface="Squada One"/>
                <a:ea typeface="Squada One"/>
                <a:cs typeface="Squada One"/>
                <a:sym typeface="Squada One"/>
              </a:rPr>
              <a:t>when and how to use kalman filter?</a:t>
            </a:r>
          </a:p>
        </p:txBody>
      </p:sp>
      <p:sp>
        <p:nvSpPr>
          <p:cNvPr name="TextBox 18" id="18"/>
          <p:cNvSpPr txBox="true"/>
          <p:nvPr/>
        </p:nvSpPr>
        <p:spPr>
          <a:xfrm rot="0">
            <a:off x="9573520" y="7391941"/>
            <a:ext cx="7685780" cy="1500505"/>
          </a:xfrm>
          <a:prstGeom prst="rect">
            <a:avLst/>
          </a:prstGeom>
        </p:spPr>
        <p:txBody>
          <a:bodyPr anchor="t" rtlCol="false" tIns="0" lIns="0" bIns="0" rIns="0">
            <a:spAutoFit/>
          </a:bodyPr>
          <a:lstStyle/>
          <a:p>
            <a:pPr algn="ctr">
              <a:lnSpc>
                <a:spcPts val="6019"/>
              </a:lnSpc>
            </a:pPr>
            <a:r>
              <a:rPr lang="en-US" sz="4299" spc="85">
                <a:solidFill>
                  <a:srgbClr val="503530"/>
                </a:solidFill>
                <a:latin typeface="Squada One"/>
                <a:ea typeface="Squada One"/>
                <a:cs typeface="Squada One"/>
                <a:sym typeface="Squada One"/>
              </a:rPr>
              <a:t>how kalman filter works?</a:t>
            </a:r>
          </a:p>
          <a:p>
            <a:pPr algn="ctr">
              <a:lnSpc>
                <a:spcPts val="6019"/>
              </a:lnSpc>
            </a:pPr>
            <a:r>
              <a:rPr lang="en-US" sz="4299" spc="85">
                <a:solidFill>
                  <a:srgbClr val="503530"/>
                </a:solidFill>
                <a:latin typeface="Squada One"/>
                <a:ea typeface="Squada One"/>
                <a:cs typeface="Squada One"/>
                <a:sym typeface="Squada One"/>
              </a:rPr>
              <a:t>(intuition &amp; math)</a:t>
            </a:r>
          </a:p>
        </p:txBody>
      </p:sp>
      <p:sp>
        <p:nvSpPr>
          <p:cNvPr name="TextBox 19" id="19"/>
          <p:cNvSpPr txBox="true"/>
          <p:nvPr/>
        </p:nvSpPr>
        <p:spPr>
          <a:xfrm rot="0">
            <a:off x="9713375" y="1294417"/>
            <a:ext cx="7406069" cy="1527048"/>
          </a:xfrm>
          <a:prstGeom prst="rect">
            <a:avLst/>
          </a:prstGeom>
        </p:spPr>
        <p:txBody>
          <a:bodyPr anchor="t" rtlCol="false" tIns="0" lIns="0" bIns="0" rIns="0">
            <a:spAutoFit/>
          </a:bodyPr>
          <a:lstStyle/>
          <a:p>
            <a:pPr algn="ctr">
              <a:lnSpc>
                <a:spcPts val="6132"/>
              </a:lnSpc>
            </a:pPr>
            <a:r>
              <a:rPr lang="en-US" sz="4380" spc="87">
                <a:solidFill>
                  <a:srgbClr val="503530"/>
                </a:solidFill>
                <a:latin typeface="Squada One"/>
                <a:ea typeface="Squada One"/>
                <a:cs typeface="Squada One"/>
                <a:sym typeface="Squada One"/>
              </a:rPr>
              <a:t>what is kalman filter? </a:t>
            </a:r>
          </a:p>
          <a:p>
            <a:pPr algn="ctr">
              <a:lnSpc>
                <a:spcPts val="6132"/>
              </a:lnSpc>
            </a:pPr>
            <a:r>
              <a:rPr lang="en-US" sz="4380" spc="87">
                <a:solidFill>
                  <a:srgbClr val="503530"/>
                </a:solidFill>
                <a:latin typeface="Squada One"/>
                <a:ea typeface="Squada One"/>
                <a:cs typeface="Squada One"/>
                <a:sym typeface="Squada One"/>
              </a:rPr>
              <a:t>why is it useful?</a:t>
            </a:r>
          </a:p>
        </p:txBody>
      </p:sp>
      <p:sp>
        <p:nvSpPr>
          <p:cNvPr name="Freeform 20" id="20"/>
          <p:cNvSpPr/>
          <p:nvPr/>
        </p:nvSpPr>
        <p:spPr>
          <a:xfrm flipH="false" flipV="true" rot="0">
            <a:off x="5976971" y="6577636"/>
            <a:ext cx="3167029" cy="2314810"/>
          </a:xfrm>
          <a:custGeom>
            <a:avLst/>
            <a:gdLst/>
            <a:ahLst/>
            <a:cxnLst/>
            <a:rect r="r" b="b" t="t" l="l"/>
            <a:pathLst>
              <a:path h="2314810" w="3167029">
                <a:moveTo>
                  <a:pt x="0" y="2314810"/>
                </a:moveTo>
                <a:lnTo>
                  <a:pt x="3167029" y="2314810"/>
                </a:lnTo>
                <a:lnTo>
                  <a:pt x="3167029" y="0"/>
                </a:lnTo>
                <a:lnTo>
                  <a:pt x="0" y="0"/>
                </a:lnTo>
                <a:lnTo>
                  <a:pt x="0" y="231481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3828141"/>
            <a:ext cx="7828892" cy="5430159"/>
            <a:chOff x="0" y="0"/>
            <a:chExt cx="2061931" cy="1430165"/>
          </a:xfrm>
        </p:grpSpPr>
        <p:sp>
          <p:nvSpPr>
            <p:cNvPr name="Freeform 7" id="7"/>
            <p:cNvSpPr/>
            <p:nvPr/>
          </p:nvSpPr>
          <p:spPr>
            <a:xfrm flipH="false" flipV="false" rot="0">
              <a:off x="0" y="0"/>
              <a:ext cx="2061931" cy="1430165"/>
            </a:xfrm>
            <a:custGeom>
              <a:avLst/>
              <a:gdLst/>
              <a:ahLst/>
              <a:cxnLst/>
              <a:rect r="r" b="b" t="t" l="l"/>
              <a:pathLst>
                <a:path h="1430165" w="2061931">
                  <a:moveTo>
                    <a:pt x="0" y="0"/>
                  </a:moveTo>
                  <a:lnTo>
                    <a:pt x="2061931" y="0"/>
                  </a:lnTo>
                  <a:lnTo>
                    <a:pt x="2061931" y="1430165"/>
                  </a:lnTo>
                  <a:lnTo>
                    <a:pt x="0" y="1430165"/>
                  </a:lnTo>
                  <a:close/>
                </a:path>
              </a:pathLst>
            </a:custGeom>
            <a:solidFill>
              <a:srgbClr val="FFC2C2"/>
            </a:solidFill>
            <a:ln w="95250" cap="sq">
              <a:solidFill>
                <a:srgbClr val="FFFFFF"/>
              </a:solidFill>
              <a:prstDash val="solid"/>
              <a:miter/>
            </a:ln>
          </p:spPr>
        </p:sp>
        <p:sp>
          <p:nvSpPr>
            <p:cNvPr name="TextBox 8" id="8"/>
            <p:cNvSpPr txBox="true"/>
            <p:nvPr/>
          </p:nvSpPr>
          <p:spPr>
            <a:xfrm>
              <a:off x="0" y="-76200"/>
              <a:ext cx="2061931" cy="1506365"/>
            </a:xfrm>
            <a:prstGeom prst="rect">
              <a:avLst/>
            </a:prstGeom>
          </p:spPr>
          <p:txBody>
            <a:bodyPr anchor="ctr" rtlCol="false" tIns="50800" lIns="50800" bIns="50800" rIns="50800"/>
            <a:lstStyle/>
            <a:p>
              <a:pPr algn="ctr">
                <a:lnSpc>
                  <a:spcPts val="5039"/>
                </a:lnSpc>
              </a:pPr>
            </a:p>
            <a:p>
              <a:pPr algn="ctr">
                <a:lnSpc>
                  <a:spcPts val="5039"/>
                </a:lnSpc>
              </a:pPr>
              <a:r>
                <a:rPr lang="en-US" sz="3599" spc="53">
                  <a:solidFill>
                    <a:srgbClr val="503530"/>
                  </a:solidFill>
                  <a:latin typeface="Squada One"/>
                  <a:ea typeface="Squada One"/>
                  <a:cs typeface="Squada One"/>
                  <a:sym typeface="Squada One"/>
                </a:rPr>
                <a:t>Kalman filter is </a:t>
              </a:r>
              <a:r>
                <a:rPr lang="en-US" sz="3599" spc="53">
                  <a:solidFill>
                    <a:srgbClr val="503530"/>
                  </a:solidFill>
                  <a:latin typeface="Squada One"/>
                  <a:ea typeface="Squada One"/>
                  <a:cs typeface="Squada One"/>
                  <a:sym typeface="Squada One"/>
                </a:rPr>
                <a:t>a smart math formula</a:t>
              </a:r>
              <a:r>
                <a:rPr lang="en-US" sz="3599" spc="53">
                  <a:solidFill>
                    <a:srgbClr val="503530"/>
                  </a:solidFill>
                  <a:latin typeface="Squada One"/>
                  <a:ea typeface="Squada One"/>
                  <a:cs typeface="Squada One"/>
                  <a:sym typeface="Squada One"/>
                </a:rPr>
                <a:t>. It </a:t>
              </a:r>
              <a:r>
                <a:rPr lang="en-US" sz="3599" spc="53">
                  <a:solidFill>
                    <a:srgbClr val="503530"/>
                  </a:solidFill>
                  <a:latin typeface="Squada One"/>
                  <a:ea typeface="Squada One"/>
                  <a:cs typeface="Squada One"/>
                  <a:sym typeface="Squada One"/>
                </a:rPr>
                <a:t>provides an estimate of the system's state and their uncertainty values.</a:t>
              </a:r>
            </a:p>
            <a:p>
              <a:pPr algn="ctr">
                <a:lnSpc>
                  <a:spcPts val="5039"/>
                </a:lnSpc>
                <a:spcBef>
                  <a:spcPct val="0"/>
                </a:spcBef>
              </a:pPr>
              <a:r>
                <a:rPr lang="en-US" sz="3599" spc="53">
                  <a:solidFill>
                    <a:srgbClr val="503530"/>
                  </a:solidFill>
                  <a:latin typeface="Squada One"/>
                  <a:ea typeface="Squada One"/>
                  <a:cs typeface="Squada One"/>
                  <a:sym typeface="Squada One"/>
                </a:rPr>
                <a:t> </a:t>
              </a:r>
            </a:p>
          </p:txBody>
        </p:sp>
      </p:grpSp>
      <p:sp>
        <p:nvSpPr>
          <p:cNvPr name="TextBox 9" id="9"/>
          <p:cNvSpPr txBox="true"/>
          <p:nvPr/>
        </p:nvSpPr>
        <p:spPr>
          <a:xfrm rot="0">
            <a:off x="1550344" y="1234534"/>
            <a:ext cx="14614496" cy="1566544"/>
          </a:xfrm>
          <a:prstGeom prst="rect">
            <a:avLst/>
          </a:prstGeom>
        </p:spPr>
        <p:txBody>
          <a:bodyPr anchor="t" rtlCol="false" tIns="0" lIns="0" bIns="0" rIns="0">
            <a:spAutoFit/>
          </a:bodyPr>
          <a:lstStyle/>
          <a:p>
            <a:pPr algn="ctr">
              <a:lnSpc>
                <a:spcPts val="12880"/>
              </a:lnSpc>
            </a:pPr>
            <a:r>
              <a:rPr lang="en-US" sz="9200" spc="184">
                <a:solidFill>
                  <a:srgbClr val="503530"/>
                </a:solidFill>
                <a:latin typeface="Squada One"/>
                <a:ea typeface="Squada One"/>
                <a:cs typeface="Squada One"/>
                <a:sym typeface="Squada One"/>
              </a:rPr>
              <a:t>WHAT IS KALMAN FILTER?</a:t>
            </a:r>
          </a:p>
        </p:txBody>
      </p:sp>
      <p:grpSp>
        <p:nvGrpSpPr>
          <p:cNvPr name="Group 10" id="10"/>
          <p:cNvGrpSpPr/>
          <p:nvPr/>
        </p:nvGrpSpPr>
        <p:grpSpPr>
          <a:xfrm rot="0">
            <a:off x="9503526" y="3828141"/>
            <a:ext cx="7755774" cy="5430159"/>
            <a:chOff x="0" y="0"/>
            <a:chExt cx="2042673" cy="1430165"/>
          </a:xfrm>
        </p:grpSpPr>
        <p:sp>
          <p:nvSpPr>
            <p:cNvPr name="Freeform 11" id="11"/>
            <p:cNvSpPr/>
            <p:nvPr/>
          </p:nvSpPr>
          <p:spPr>
            <a:xfrm flipH="false" flipV="false" rot="0">
              <a:off x="0" y="0"/>
              <a:ext cx="2042673" cy="1430165"/>
            </a:xfrm>
            <a:custGeom>
              <a:avLst/>
              <a:gdLst/>
              <a:ahLst/>
              <a:cxnLst/>
              <a:rect r="r" b="b" t="t" l="l"/>
              <a:pathLst>
                <a:path h="1430165" w="2042673">
                  <a:moveTo>
                    <a:pt x="0" y="0"/>
                  </a:moveTo>
                  <a:lnTo>
                    <a:pt x="2042673" y="0"/>
                  </a:lnTo>
                  <a:lnTo>
                    <a:pt x="2042673" y="1430165"/>
                  </a:lnTo>
                  <a:lnTo>
                    <a:pt x="0" y="1430165"/>
                  </a:lnTo>
                  <a:close/>
                </a:path>
              </a:pathLst>
            </a:custGeom>
            <a:solidFill>
              <a:srgbClr val="FFD9C2"/>
            </a:solidFill>
            <a:ln w="95250" cap="sq">
              <a:solidFill>
                <a:srgbClr val="FFFFFF"/>
              </a:solidFill>
              <a:prstDash val="solid"/>
              <a:miter/>
            </a:ln>
          </p:spPr>
        </p:sp>
        <p:sp>
          <p:nvSpPr>
            <p:cNvPr name="TextBox 12" id="12"/>
            <p:cNvSpPr txBox="true"/>
            <p:nvPr/>
          </p:nvSpPr>
          <p:spPr>
            <a:xfrm>
              <a:off x="0" y="-76200"/>
              <a:ext cx="2042673" cy="1506365"/>
            </a:xfrm>
            <a:prstGeom prst="rect">
              <a:avLst/>
            </a:prstGeom>
          </p:spPr>
          <p:txBody>
            <a:bodyPr anchor="ctr" rtlCol="false" tIns="50800" lIns="50800" bIns="50800" rIns="50800"/>
            <a:lstStyle/>
            <a:p>
              <a:pPr algn="ctr">
                <a:lnSpc>
                  <a:spcPts val="5040"/>
                </a:lnSpc>
                <a:spcBef>
                  <a:spcPct val="0"/>
                </a:spcBef>
              </a:pPr>
              <a:r>
                <a:rPr lang="en-US" sz="3600" spc="53">
                  <a:solidFill>
                    <a:srgbClr val="503530"/>
                  </a:solidFill>
                  <a:latin typeface="Squada One"/>
                  <a:ea typeface="Squada One"/>
                  <a:cs typeface="Squada One"/>
                  <a:sym typeface="Squada One"/>
                </a:rPr>
                <a:t>It works in steps by estimateing the next state and then fixing that estimation using new data.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4748616"/>
            <a:ext cx="16230600" cy="4114800"/>
            <a:chOff x="0" y="0"/>
            <a:chExt cx="4274726" cy="1083733"/>
          </a:xfrm>
        </p:grpSpPr>
        <p:sp>
          <p:nvSpPr>
            <p:cNvPr name="Freeform 7" id="7"/>
            <p:cNvSpPr/>
            <p:nvPr/>
          </p:nvSpPr>
          <p:spPr>
            <a:xfrm flipH="false" flipV="false" rot="0">
              <a:off x="0" y="0"/>
              <a:ext cx="4274726" cy="1083733"/>
            </a:xfrm>
            <a:custGeom>
              <a:avLst/>
              <a:gdLst/>
              <a:ahLst/>
              <a:cxnLst/>
              <a:rect r="r" b="b" t="t" l="l"/>
              <a:pathLst>
                <a:path h="1083733" w="4274726">
                  <a:moveTo>
                    <a:pt x="0" y="0"/>
                  </a:moveTo>
                  <a:lnTo>
                    <a:pt x="4274726" y="0"/>
                  </a:lnTo>
                  <a:lnTo>
                    <a:pt x="4274726" y="1083733"/>
                  </a:lnTo>
                  <a:lnTo>
                    <a:pt x="0" y="1083733"/>
                  </a:lnTo>
                  <a:close/>
                </a:path>
              </a:pathLst>
            </a:custGeom>
            <a:solidFill>
              <a:srgbClr val="FFD9C2"/>
            </a:solidFill>
            <a:ln w="95250" cap="sq">
              <a:solidFill>
                <a:srgbClr val="FFFFFF"/>
              </a:solidFill>
              <a:prstDash val="solid"/>
              <a:miter/>
            </a:ln>
          </p:spPr>
        </p:sp>
        <p:sp>
          <p:nvSpPr>
            <p:cNvPr name="TextBox 8" id="8"/>
            <p:cNvSpPr txBox="true"/>
            <p:nvPr/>
          </p:nvSpPr>
          <p:spPr>
            <a:xfrm>
              <a:off x="0" y="-76200"/>
              <a:ext cx="4274726" cy="1159933"/>
            </a:xfrm>
            <a:prstGeom prst="rect">
              <a:avLst/>
            </a:prstGeom>
          </p:spPr>
          <p:txBody>
            <a:bodyPr anchor="ctr" rtlCol="false" tIns="50800" lIns="50800" bIns="50800" rIns="50800"/>
            <a:lstStyle/>
            <a:p>
              <a:pPr algn="l" marL="777230" indent="-388615" lvl="1">
                <a:lnSpc>
                  <a:spcPts val="5039"/>
                </a:lnSpc>
                <a:buFont typeface="Arial"/>
                <a:buChar char="•"/>
              </a:pPr>
              <a:r>
                <a:rPr lang="en-US" sz="3599" spc="53">
                  <a:solidFill>
                    <a:srgbClr val="503530"/>
                  </a:solidFill>
                  <a:latin typeface="Squada One"/>
                  <a:ea typeface="Squada One"/>
                  <a:cs typeface="Squada One"/>
                  <a:sym typeface="Squada One"/>
                </a:rPr>
                <a:t>prediction</a:t>
              </a:r>
            </a:p>
            <a:p>
              <a:pPr algn="l" marL="777230" indent="-388615" lvl="1">
                <a:lnSpc>
                  <a:spcPts val="5039"/>
                </a:lnSpc>
                <a:buFont typeface="Arial"/>
                <a:buChar char="•"/>
              </a:pPr>
              <a:r>
                <a:rPr lang="en-US" sz="3599" spc="53">
                  <a:solidFill>
                    <a:srgbClr val="503530"/>
                  </a:solidFill>
                  <a:latin typeface="Squada One"/>
                  <a:ea typeface="Squada One"/>
                  <a:cs typeface="Squada One"/>
                  <a:sym typeface="Squada One"/>
                </a:rPr>
                <a:t>observation</a:t>
              </a:r>
            </a:p>
            <a:p>
              <a:pPr algn="l" marL="777230" indent="-388615" lvl="1">
                <a:lnSpc>
                  <a:spcPts val="5039"/>
                </a:lnSpc>
                <a:buFont typeface="Arial"/>
                <a:buChar char="•"/>
              </a:pPr>
              <a:r>
                <a:rPr lang="en-US" sz="3599" spc="53">
                  <a:solidFill>
                    <a:srgbClr val="503530"/>
                  </a:solidFill>
                  <a:latin typeface="Squada One"/>
                  <a:ea typeface="Squada One"/>
                  <a:cs typeface="Squada One"/>
                  <a:sym typeface="Squada One"/>
                </a:rPr>
                <a:t>calculations</a:t>
              </a:r>
            </a:p>
          </p:txBody>
        </p:sp>
      </p:grpSp>
      <p:sp>
        <p:nvSpPr>
          <p:cNvPr name="Freeform 9" id="9"/>
          <p:cNvSpPr/>
          <p:nvPr/>
        </p:nvSpPr>
        <p:spPr>
          <a:xfrm flipH="false" flipV="false" rot="0">
            <a:off x="9705293" y="3898870"/>
            <a:ext cx="6963508" cy="4114800"/>
          </a:xfrm>
          <a:custGeom>
            <a:avLst/>
            <a:gdLst/>
            <a:ahLst/>
            <a:cxnLst/>
            <a:rect r="r" b="b" t="t" l="l"/>
            <a:pathLst>
              <a:path h="4114800" w="6963508">
                <a:moveTo>
                  <a:pt x="0" y="0"/>
                </a:moveTo>
                <a:lnTo>
                  <a:pt x="6963508" y="0"/>
                </a:lnTo>
                <a:lnTo>
                  <a:pt x="696350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494884" y="1279303"/>
            <a:ext cx="15173917" cy="1477006"/>
          </a:xfrm>
          <a:prstGeom prst="rect">
            <a:avLst/>
          </a:prstGeom>
        </p:spPr>
        <p:txBody>
          <a:bodyPr anchor="t" rtlCol="false" tIns="0" lIns="0" bIns="0" rIns="0">
            <a:spAutoFit/>
          </a:bodyPr>
          <a:lstStyle/>
          <a:p>
            <a:pPr algn="ctr">
              <a:lnSpc>
                <a:spcPts val="12040"/>
              </a:lnSpc>
            </a:pPr>
            <a:r>
              <a:rPr lang="en-US" sz="8600" spc="172">
                <a:solidFill>
                  <a:srgbClr val="503530"/>
                </a:solidFill>
                <a:latin typeface="Squada One"/>
                <a:ea typeface="Squada One"/>
                <a:cs typeface="Squada One"/>
                <a:sym typeface="Squada One"/>
              </a:rPr>
              <a:t> EXAMPLE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4066634"/>
            <a:ext cx="7685780" cy="2153733"/>
            <a:chOff x="0" y="0"/>
            <a:chExt cx="2024238" cy="567238"/>
          </a:xfrm>
        </p:grpSpPr>
        <p:sp>
          <p:nvSpPr>
            <p:cNvPr name="Freeform 4" id="4"/>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D9C2"/>
            </a:solidFill>
            <a:ln w="95250" cap="sq">
              <a:solidFill>
                <a:srgbClr val="FFFFFF"/>
              </a:solidFill>
              <a:prstDash val="solid"/>
              <a:miter/>
            </a:ln>
          </p:spPr>
        </p:sp>
        <p:sp>
          <p:nvSpPr>
            <p:cNvPr name="TextBox 5" id="5"/>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573520" y="1028700"/>
            <a:ext cx="7685780" cy="2153733"/>
            <a:chOff x="0" y="0"/>
            <a:chExt cx="2024238" cy="567238"/>
          </a:xfrm>
        </p:grpSpPr>
        <p:sp>
          <p:nvSpPr>
            <p:cNvPr name="Freeform 7" id="7"/>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8" id="8"/>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573520" y="4066634"/>
            <a:ext cx="7685780" cy="2153733"/>
            <a:chOff x="0" y="0"/>
            <a:chExt cx="2024238" cy="567238"/>
          </a:xfrm>
        </p:grpSpPr>
        <p:sp>
          <p:nvSpPr>
            <p:cNvPr name="Freeform 10" id="10"/>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11" id="11"/>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9573520" y="7104567"/>
            <a:ext cx="7685780" cy="2153733"/>
            <a:chOff x="0" y="0"/>
            <a:chExt cx="2024238" cy="567238"/>
          </a:xfrm>
        </p:grpSpPr>
        <p:sp>
          <p:nvSpPr>
            <p:cNvPr name="Freeform 13" id="13"/>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14" id="14"/>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5976971" y="1535355"/>
            <a:ext cx="3167029" cy="2314810"/>
          </a:xfrm>
          <a:custGeom>
            <a:avLst/>
            <a:gdLst/>
            <a:ahLst/>
            <a:cxnLst/>
            <a:rect r="r" b="b" t="t" l="l"/>
            <a:pathLst>
              <a:path h="2314810" w="3167029">
                <a:moveTo>
                  <a:pt x="0" y="0"/>
                </a:moveTo>
                <a:lnTo>
                  <a:pt x="3167029" y="0"/>
                </a:lnTo>
                <a:lnTo>
                  <a:pt x="3167029" y="2314810"/>
                </a:lnTo>
                <a:lnTo>
                  <a:pt x="0" y="23148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727976" y="4046855"/>
            <a:ext cx="6287228" cy="2069466"/>
          </a:xfrm>
          <a:prstGeom prst="rect">
            <a:avLst/>
          </a:prstGeom>
        </p:spPr>
        <p:txBody>
          <a:bodyPr anchor="t" rtlCol="false" tIns="0" lIns="0" bIns="0" rIns="0">
            <a:spAutoFit/>
          </a:bodyPr>
          <a:lstStyle/>
          <a:p>
            <a:pPr algn="ctr">
              <a:lnSpc>
                <a:spcPts val="8259"/>
              </a:lnSpc>
            </a:pPr>
            <a:r>
              <a:rPr lang="en-US" sz="5899" spc="88">
                <a:solidFill>
                  <a:srgbClr val="000000"/>
                </a:solidFill>
                <a:latin typeface="Squada One"/>
                <a:ea typeface="Squada One"/>
                <a:cs typeface="Squada One"/>
                <a:sym typeface="Squada One"/>
              </a:rPr>
              <a:t>why is kalman filter usefull?</a:t>
            </a:r>
          </a:p>
        </p:txBody>
      </p:sp>
      <p:sp>
        <p:nvSpPr>
          <p:cNvPr name="TextBox 17" id="17"/>
          <p:cNvSpPr txBox="true"/>
          <p:nvPr/>
        </p:nvSpPr>
        <p:spPr>
          <a:xfrm rot="0">
            <a:off x="9573520" y="4731385"/>
            <a:ext cx="7685780" cy="738505"/>
          </a:xfrm>
          <a:prstGeom prst="rect">
            <a:avLst/>
          </a:prstGeom>
        </p:spPr>
        <p:txBody>
          <a:bodyPr anchor="t" rtlCol="false" tIns="0" lIns="0" bIns="0" rIns="0">
            <a:spAutoFit/>
          </a:bodyPr>
          <a:lstStyle/>
          <a:p>
            <a:pPr algn="ctr">
              <a:lnSpc>
                <a:spcPts val="6019"/>
              </a:lnSpc>
            </a:pPr>
            <a:r>
              <a:rPr lang="en-US" sz="4299" spc="85">
                <a:solidFill>
                  <a:srgbClr val="503530"/>
                </a:solidFill>
                <a:latin typeface="Squada One"/>
                <a:ea typeface="Squada One"/>
                <a:cs typeface="Squada One"/>
                <a:sym typeface="Squada One"/>
              </a:rPr>
              <a:t>sensors combination</a:t>
            </a:r>
          </a:p>
        </p:txBody>
      </p:sp>
      <p:sp>
        <p:nvSpPr>
          <p:cNvPr name="TextBox 18" id="18"/>
          <p:cNvSpPr txBox="true"/>
          <p:nvPr/>
        </p:nvSpPr>
        <p:spPr>
          <a:xfrm rot="0">
            <a:off x="9573520" y="7772941"/>
            <a:ext cx="7685780" cy="738505"/>
          </a:xfrm>
          <a:prstGeom prst="rect">
            <a:avLst/>
          </a:prstGeom>
        </p:spPr>
        <p:txBody>
          <a:bodyPr anchor="t" rtlCol="false" tIns="0" lIns="0" bIns="0" rIns="0">
            <a:spAutoFit/>
          </a:bodyPr>
          <a:lstStyle/>
          <a:p>
            <a:pPr algn="ctr">
              <a:lnSpc>
                <a:spcPts val="6019"/>
              </a:lnSpc>
            </a:pPr>
            <a:r>
              <a:rPr lang="en-US" sz="4299" spc="85">
                <a:solidFill>
                  <a:srgbClr val="503530"/>
                </a:solidFill>
                <a:latin typeface="Squada One"/>
                <a:ea typeface="Squada One"/>
                <a:cs typeface="Squada One"/>
                <a:sym typeface="Squada One"/>
              </a:rPr>
              <a:t>Fast and l</a:t>
            </a:r>
            <a:r>
              <a:rPr lang="en-US" sz="4299" spc="85">
                <a:solidFill>
                  <a:srgbClr val="503530"/>
                </a:solidFill>
                <a:latin typeface="Squada One"/>
                <a:ea typeface="Squada One"/>
                <a:cs typeface="Squada One"/>
                <a:sym typeface="Squada One"/>
              </a:rPr>
              <a:t>i</a:t>
            </a:r>
            <a:r>
              <a:rPr lang="en-US" sz="4299" spc="85">
                <a:solidFill>
                  <a:srgbClr val="503530"/>
                </a:solidFill>
                <a:latin typeface="Squada One"/>
                <a:ea typeface="Squada One"/>
                <a:cs typeface="Squada One"/>
                <a:sym typeface="Squada One"/>
              </a:rPr>
              <a:t>gh</a:t>
            </a:r>
            <a:r>
              <a:rPr lang="en-US" sz="4299" spc="85">
                <a:solidFill>
                  <a:srgbClr val="503530"/>
                </a:solidFill>
                <a:latin typeface="Squada One"/>
                <a:ea typeface="Squada One"/>
                <a:cs typeface="Squada One"/>
                <a:sym typeface="Squada One"/>
              </a:rPr>
              <a:t>t</a:t>
            </a:r>
          </a:p>
        </p:txBody>
      </p:sp>
      <p:sp>
        <p:nvSpPr>
          <p:cNvPr name="TextBox 19" id="19"/>
          <p:cNvSpPr txBox="true"/>
          <p:nvPr/>
        </p:nvSpPr>
        <p:spPr>
          <a:xfrm rot="0">
            <a:off x="9573520" y="1672811"/>
            <a:ext cx="7406069" cy="755523"/>
          </a:xfrm>
          <a:prstGeom prst="rect">
            <a:avLst/>
          </a:prstGeom>
        </p:spPr>
        <p:txBody>
          <a:bodyPr anchor="t" rtlCol="false" tIns="0" lIns="0" bIns="0" rIns="0">
            <a:spAutoFit/>
          </a:bodyPr>
          <a:lstStyle/>
          <a:p>
            <a:pPr algn="ctr">
              <a:lnSpc>
                <a:spcPts val="6132"/>
              </a:lnSpc>
            </a:pPr>
            <a:r>
              <a:rPr lang="en-US" sz="4380" spc="87">
                <a:solidFill>
                  <a:srgbClr val="503530"/>
                </a:solidFill>
                <a:latin typeface="Squada One"/>
                <a:ea typeface="Squada One"/>
                <a:cs typeface="Squada One"/>
                <a:sym typeface="Squada One"/>
              </a:rPr>
              <a:t>noise removal</a:t>
            </a:r>
          </a:p>
        </p:txBody>
      </p:sp>
      <p:sp>
        <p:nvSpPr>
          <p:cNvPr name="Freeform 20" id="20"/>
          <p:cNvSpPr/>
          <p:nvPr/>
        </p:nvSpPr>
        <p:spPr>
          <a:xfrm flipH="false" flipV="true" rot="0">
            <a:off x="5976971" y="6577636"/>
            <a:ext cx="3167029" cy="2314810"/>
          </a:xfrm>
          <a:custGeom>
            <a:avLst/>
            <a:gdLst/>
            <a:ahLst/>
            <a:cxnLst/>
            <a:rect r="r" b="b" t="t" l="l"/>
            <a:pathLst>
              <a:path h="2314810" w="3167029">
                <a:moveTo>
                  <a:pt x="0" y="2314810"/>
                </a:moveTo>
                <a:lnTo>
                  <a:pt x="3167029" y="2314810"/>
                </a:lnTo>
                <a:lnTo>
                  <a:pt x="3167029" y="0"/>
                </a:lnTo>
                <a:lnTo>
                  <a:pt x="0" y="0"/>
                </a:lnTo>
                <a:lnTo>
                  <a:pt x="0" y="231481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550344" y="1234534"/>
            <a:ext cx="14614496" cy="1566544"/>
          </a:xfrm>
          <a:prstGeom prst="rect">
            <a:avLst/>
          </a:prstGeom>
        </p:spPr>
        <p:txBody>
          <a:bodyPr anchor="t" rtlCol="false" tIns="0" lIns="0" bIns="0" rIns="0">
            <a:spAutoFit/>
          </a:bodyPr>
          <a:lstStyle/>
          <a:p>
            <a:pPr algn="ctr">
              <a:lnSpc>
                <a:spcPts val="12880"/>
              </a:lnSpc>
            </a:pPr>
            <a:r>
              <a:rPr lang="en-US" sz="9200" spc="184">
                <a:solidFill>
                  <a:srgbClr val="503530"/>
                </a:solidFill>
                <a:latin typeface="Squada One"/>
                <a:ea typeface="Squada One"/>
                <a:cs typeface="Squada One"/>
                <a:sym typeface="Squada One"/>
              </a:rPr>
              <a:t>WHEN TO USE KALMAN FILTER?</a:t>
            </a:r>
          </a:p>
        </p:txBody>
      </p:sp>
      <p:grpSp>
        <p:nvGrpSpPr>
          <p:cNvPr name="Group 7" id="7"/>
          <p:cNvGrpSpPr/>
          <p:nvPr/>
        </p:nvGrpSpPr>
        <p:grpSpPr>
          <a:xfrm rot="0">
            <a:off x="3390698" y="5143500"/>
            <a:ext cx="11506605" cy="4114800"/>
            <a:chOff x="0" y="0"/>
            <a:chExt cx="3030546" cy="1083733"/>
          </a:xfrm>
        </p:grpSpPr>
        <p:sp>
          <p:nvSpPr>
            <p:cNvPr name="Freeform 8" id="8"/>
            <p:cNvSpPr/>
            <p:nvPr/>
          </p:nvSpPr>
          <p:spPr>
            <a:xfrm flipH="false" flipV="false" rot="0">
              <a:off x="0" y="0"/>
              <a:ext cx="3030546" cy="1083733"/>
            </a:xfrm>
            <a:custGeom>
              <a:avLst/>
              <a:gdLst/>
              <a:ahLst/>
              <a:cxnLst/>
              <a:rect r="r" b="b" t="t" l="l"/>
              <a:pathLst>
                <a:path h="1083733" w="3030546">
                  <a:moveTo>
                    <a:pt x="0" y="0"/>
                  </a:moveTo>
                  <a:lnTo>
                    <a:pt x="3030546" y="0"/>
                  </a:lnTo>
                  <a:lnTo>
                    <a:pt x="3030546" y="1083733"/>
                  </a:lnTo>
                  <a:lnTo>
                    <a:pt x="0" y="1083733"/>
                  </a:lnTo>
                  <a:close/>
                </a:path>
              </a:pathLst>
            </a:custGeom>
            <a:solidFill>
              <a:srgbClr val="FFC2C2"/>
            </a:solidFill>
            <a:ln w="95250" cap="sq">
              <a:solidFill>
                <a:srgbClr val="FFFFFF"/>
              </a:solidFill>
              <a:prstDash val="solid"/>
              <a:miter/>
            </a:ln>
          </p:spPr>
        </p:sp>
        <p:sp>
          <p:nvSpPr>
            <p:cNvPr name="TextBox 9" id="9"/>
            <p:cNvSpPr txBox="true"/>
            <p:nvPr/>
          </p:nvSpPr>
          <p:spPr>
            <a:xfrm>
              <a:off x="0" y="-76200"/>
              <a:ext cx="3030546" cy="1159933"/>
            </a:xfrm>
            <a:prstGeom prst="rect">
              <a:avLst/>
            </a:prstGeom>
          </p:spPr>
          <p:txBody>
            <a:bodyPr anchor="ctr" rtlCol="false" tIns="50800" lIns="50800" bIns="50800" rIns="50800"/>
            <a:lstStyle/>
            <a:p>
              <a:pPr algn="ctr">
                <a:lnSpc>
                  <a:spcPts val="5040"/>
                </a:lnSpc>
                <a:spcBef>
                  <a:spcPct val="0"/>
                </a:spcBef>
              </a:pPr>
              <a:r>
                <a:rPr lang="en-US" sz="3600" spc="53">
                  <a:solidFill>
                    <a:srgbClr val="503530"/>
                  </a:solidFill>
                  <a:latin typeface="Squada One"/>
                  <a:ea typeface="Squada One"/>
                  <a:cs typeface="Squada One"/>
                  <a:sym typeface="Squada One"/>
                </a:rPr>
                <a:t>in simpler words: we use kalman filter when we need to determine the current state of a system based on the previous estimated states, unaccurate data and calculations.</a:t>
              </a:r>
            </a:p>
          </p:txBody>
        </p:sp>
      </p:grpSp>
      <p:grpSp>
        <p:nvGrpSpPr>
          <p:cNvPr name="Group 10" id="10"/>
          <p:cNvGrpSpPr/>
          <p:nvPr/>
        </p:nvGrpSpPr>
        <p:grpSpPr>
          <a:xfrm rot="0">
            <a:off x="1028700" y="3440942"/>
            <a:ext cx="16230600" cy="1477670"/>
            <a:chOff x="0" y="0"/>
            <a:chExt cx="4274726" cy="389181"/>
          </a:xfrm>
        </p:grpSpPr>
        <p:sp>
          <p:nvSpPr>
            <p:cNvPr name="Freeform 11" id="11"/>
            <p:cNvSpPr/>
            <p:nvPr/>
          </p:nvSpPr>
          <p:spPr>
            <a:xfrm flipH="false" flipV="false" rot="0">
              <a:off x="0" y="0"/>
              <a:ext cx="4274726" cy="389181"/>
            </a:xfrm>
            <a:custGeom>
              <a:avLst/>
              <a:gdLst/>
              <a:ahLst/>
              <a:cxnLst/>
              <a:rect r="r" b="b" t="t" l="l"/>
              <a:pathLst>
                <a:path h="389181" w="4274726">
                  <a:moveTo>
                    <a:pt x="0" y="0"/>
                  </a:moveTo>
                  <a:lnTo>
                    <a:pt x="4274726" y="0"/>
                  </a:lnTo>
                  <a:lnTo>
                    <a:pt x="4274726" y="389181"/>
                  </a:lnTo>
                  <a:lnTo>
                    <a:pt x="0" y="389181"/>
                  </a:lnTo>
                  <a:close/>
                </a:path>
              </a:pathLst>
            </a:custGeom>
            <a:solidFill>
              <a:srgbClr val="FFD9C2"/>
            </a:solidFill>
            <a:ln w="95250" cap="sq">
              <a:solidFill>
                <a:srgbClr val="FFFFFF"/>
              </a:solidFill>
              <a:prstDash val="solid"/>
              <a:miter/>
            </a:ln>
          </p:spPr>
        </p:sp>
        <p:sp>
          <p:nvSpPr>
            <p:cNvPr name="TextBox 12" id="12"/>
            <p:cNvSpPr txBox="true"/>
            <p:nvPr/>
          </p:nvSpPr>
          <p:spPr>
            <a:xfrm>
              <a:off x="0" y="-76200"/>
              <a:ext cx="4274726" cy="465381"/>
            </a:xfrm>
            <a:prstGeom prst="rect">
              <a:avLst/>
            </a:prstGeom>
          </p:spPr>
          <p:txBody>
            <a:bodyPr anchor="ctr" rtlCol="false" tIns="50800" lIns="50800" bIns="50800" rIns="50800"/>
            <a:lstStyle/>
            <a:p>
              <a:pPr algn="ctr">
                <a:lnSpc>
                  <a:spcPts val="5040"/>
                </a:lnSpc>
                <a:spcBef>
                  <a:spcPct val="0"/>
                </a:spcBef>
              </a:pPr>
              <a:r>
                <a:rPr lang="en-US" sz="3600" spc="53">
                  <a:solidFill>
                    <a:srgbClr val="503530"/>
                  </a:solidFill>
                  <a:latin typeface="Squada One"/>
                  <a:ea typeface="Squada One"/>
                  <a:cs typeface="Squada One"/>
                  <a:sym typeface="Squada One"/>
                </a:rPr>
                <a:t>Kalman filter is usefull </a:t>
              </a:r>
              <a:r>
                <a:rPr lang="en-US" sz="3600" spc="53">
                  <a:solidFill>
                    <a:srgbClr val="503530"/>
                  </a:solidFill>
                  <a:latin typeface="Squada One"/>
                  <a:ea typeface="Squada One"/>
                  <a:cs typeface="Squada One"/>
                  <a:sym typeface="Squada One"/>
                </a:rPr>
                <a:t>when you need to estimate hidden internal states of a dynamic system using a series of noisy, indirect, or incomplete measurements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66542" y="5115697"/>
            <a:ext cx="9804798" cy="4668545"/>
            <a:chOff x="0" y="0"/>
            <a:chExt cx="2582334" cy="1229576"/>
          </a:xfrm>
        </p:grpSpPr>
        <p:sp>
          <p:nvSpPr>
            <p:cNvPr name="Freeform 7" id="7"/>
            <p:cNvSpPr/>
            <p:nvPr/>
          </p:nvSpPr>
          <p:spPr>
            <a:xfrm flipH="false" flipV="false" rot="0">
              <a:off x="0" y="0"/>
              <a:ext cx="2582334" cy="1229576"/>
            </a:xfrm>
            <a:custGeom>
              <a:avLst/>
              <a:gdLst/>
              <a:ahLst/>
              <a:cxnLst/>
              <a:rect r="r" b="b" t="t" l="l"/>
              <a:pathLst>
                <a:path h="1229576" w="2582334">
                  <a:moveTo>
                    <a:pt x="0" y="0"/>
                  </a:moveTo>
                  <a:lnTo>
                    <a:pt x="2582334" y="0"/>
                  </a:lnTo>
                  <a:lnTo>
                    <a:pt x="2582334" y="1229576"/>
                  </a:lnTo>
                  <a:lnTo>
                    <a:pt x="0" y="1229576"/>
                  </a:lnTo>
                  <a:close/>
                </a:path>
              </a:pathLst>
            </a:custGeom>
            <a:solidFill>
              <a:srgbClr val="FFD9C2"/>
            </a:solidFill>
            <a:ln w="95250" cap="sq">
              <a:solidFill>
                <a:srgbClr val="FFFFFF"/>
              </a:solidFill>
              <a:prstDash val="solid"/>
              <a:miter/>
            </a:ln>
          </p:spPr>
        </p:sp>
        <p:sp>
          <p:nvSpPr>
            <p:cNvPr name="TextBox 8" id="8"/>
            <p:cNvSpPr txBox="true"/>
            <p:nvPr/>
          </p:nvSpPr>
          <p:spPr>
            <a:xfrm>
              <a:off x="0" y="-76200"/>
              <a:ext cx="2582334" cy="1305776"/>
            </a:xfrm>
            <a:prstGeom prst="rect">
              <a:avLst/>
            </a:prstGeom>
          </p:spPr>
          <p:txBody>
            <a:bodyPr anchor="ctr" rtlCol="false" tIns="50800" lIns="50800" bIns="50800" rIns="50800"/>
            <a:lstStyle/>
            <a:p>
              <a:pPr algn="ctr">
                <a:lnSpc>
                  <a:spcPts val="5040"/>
                </a:lnSpc>
                <a:spcBef>
                  <a:spcPct val="0"/>
                </a:spcBef>
              </a:pPr>
              <a:r>
                <a:rPr lang="en-US" sz="3600" spc="53">
                  <a:solidFill>
                    <a:srgbClr val="503530"/>
                  </a:solidFill>
                  <a:latin typeface="Squada One"/>
                  <a:ea typeface="Squada One"/>
                  <a:cs typeface="Squada One"/>
                  <a:sym typeface="Squada One"/>
                </a:rPr>
                <a:t>kalman filter calculates a prediction of the next state based on the current and previous states. after that it calculates the difference between the predicted observation that would lead to the predicted next state, and the real observation. them it decides how relible is the prediction and how relible is the observation and determins the next state.</a:t>
              </a:r>
            </a:p>
          </p:txBody>
        </p:sp>
      </p:grpSp>
      <p:grpSp>
        <p:nvGrpSpPr>
          <p:cNvPr name="Group 9" id="9"/>
          <p:cNvGrpSpPr/>
          <p:nvPr/>
        </p:nvGrpSpPr>
        <p:grpSpPr>
          <a:xfrm rot="0">
            <a:off x="11057878" y="5115697"/>
            <a:ext cx="6139264" cy="4668545"/>
            <a:chOff x="0" y="0"/>
            <a:chExt cx="1616926" cy="1229576"/>
          </a:xfrm>
        </p:grpSpPr>
        <p:sp>
          <p:nvSpPr>
            <p:cNvPr name="Freeform 10" id="10"/>
            <p:cNvSpPr/>
            <p:nvPr/>
          </p:nvSpPr>
          <p:spPr>
            <a:xfrm flipH="false" flipV="false" rot="0">
              <a:off x="0" y="0"/>
              <a:ext cx="1616926" cy="1229576"/>
            </a:xfrm>
            <a:custGeom>
              <a:avLst/>
              <a:gdLst/>
              <a:ahLst/>
              <a:cxnLst/>
              <a:rect r="r" b="b" t="t" l="l"/>
              <a:pathLst>
                <a:path h="1229576" w="1616926">
                  <a:moveTo>
                    <a:pt x="0" y="0"/>
                  </a:moveTo>
                  <a:lnTo>
                    <a:pt x="1616926" y="0"/>
                  </a:lnTo>
                  <a:lnTo>
                    <a:pt x="1616926" y="1229576"/>
                  </a:lnTo>
                  <a:lnTo>
                    <a:pt x="0" y="1229576"/>
                  </a:lnTo>
                  <a:close/>
                </a:path>
              </a:pathLst>
            </a:custGeom>
            <a:solidFill>
              <a:srgbClr val="FFD9C2"/>
            </a:solidFill>
            <a:ln w="95250" cap="sq">
              <a:solidFill>
                <a:srgbClr val="FFFFFF"/>
              </a:solidFill>
              <a:prstDash val="solid"/>
              <a:miter/>
            </a:ln>
          </p:spPr>
        </p:sp>
        <p:sp>
          <p:nvSpPr>
            <p:cNvPr name="TextBox 11" id="11"/>
            <p:cNvSpPr txBox="true"/>
            <p:nvPr/>
          </p:nvSpPr>
          <p:spPr>
            <a:xfrm>
              <a:off x="0" y="-76200"/>
              <a:ext cx="1616926" cy="1305776"/>
            </a:xfrm>
            <a:prstGeom prst="rect">
              <a:avLst/>
            </a:prstGeom>
          </p:spPr>
          <p:txBody>
            <a:bodyPr anchor="ctr" rtlCol="false" tIns="50800" lIns="50800" bIns="50800" rIns="50800"/>
            <a:lstStyle/>
            <a:p>
              <a:pPr algn="ctr">
                <a:lnSpc>
                  <a:spcPts val="5040"/>
                </a:lnSpc>
                <a:spcBef>
                  <a:spcPct val="0"/>
                </a:spcBef>
              </a:pPr>
              <a:r>
                <a:rPr lang="en-US" sz="3600" spc="53">
                  <a:solidFill>
                    <a:srgbClr val="503530"/>
                  </a:solidFill>
                  <a:latin typeface="Squada One"/>
                  <a:ea typeface="Squada One"/>
                  <a:cs typeface="Squada One"/>
                  <a:sym typeface="Squada One"/>
                </a:rPr>
                <a:t>in case there are more than one observation at each time we do the same proccess foe all of them - estimating the next state based on one observation than moving to the next one.</a:t>
              </a:r>
            </a:p>
          </p:txBody>
        </p:sp>
      </p:grpSp>
      <p:grpSp>
        <p:nvGrpSpPr>
          <p:cNvPr name="Group 12" id="12"/>
          <p:cNvGrpSpPr/>
          <p:nvPr/>
        </p:nvGrpSpPr>
        <p:grpSpPr>
          <a:xfrm rot="0">
            <a:off x="1028700" y="3440942"/>
            <a:ext cx="16230600" cy="1442013"/>
            <a:chOff x="0" y="0"/>
            <a:chExt cx="4274726" cy="379789"/>
          </a:xfrm>
        </p:grpSpPr>
        <p:sp>
          <p:nvSpPr>
            <p:cNvPr name="Freeform 13" id="13"/>
            <p:cNvSpPr/>
            <p:nvPr/>
          </p:nvSpPr>
          <p:spPr>
            <a:xfrm flipH="false" flipV="false" rot="0">
              <a:off x="0" y="0"/>
              <a:ext cx="4274726" cy="379789"/>
            </a:xfrm>
            <a:custGeom>
              <a:avLst/>
              <a:gdLst/>
              <a:ahLst/>
              <a:cxnLst/>
              <a:rect r="r" b="b" t="t" l="l"/>
              <a:pathLst>
                <a:path h="379789" w="4274726">
                  <a:moveTo>
                    <a:pt x="0" y="0"/>
                  </a:moveTo>
                  <a:lnTo>
                    <a:pt x="4274726" y="0"/>
                  </a:lnTo>
                  <a:lnTo>
                    <a:pt x="4274726" y="379789"/>
                  </a:lnTo>
                  <a:lnTo>
                    <a:pt x="0" y="379789"/>
                  </a:lnTo>
                  <a:close/>
                </a:path>
              </a:pathLst>
            </a:custGeom>
            <a:solidFill>
              <a:srgbClr val="FFD9C2"/>
            </a:solidFill>
            <a:ln w="95250" cap="sq">
              <a:solidFill>
                <a:srgbClr val="FFFFFF"/>
              </a:solidFill>
              <a:prstDash val="solid"/>
              <a:miter/>
            </a:ln>
          </p:spPr>
        </p:sp>
        <p:sp>
          <p:nvSpPr>
            <p:cNvPr name="TextBox 14" id="14"/>
            <p:cNvSpPr txBox="true"/>
            <p:nvPr/>
          </p:nvSpPr>
          <p:spPr>
            <a:xfrm>
              <a:off x="0" y="-47625"/>
              <a:ext cx="4274726" cy="427414"/>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966542" y="3661251"/>
            <a:ext cx="16230600" cy="896620"/>
          </a:xfrm>
          <a:prstGeom prst="rect">
            <a:avLst/>
          </a:prstGeom>
        </p:spPr>
        <p:txBody>
          <a:bodyPr anchor="t" rtlCol="false" tIns="0" lIns="0" bIns="0" rIns="0">
            <a:spAutoFit/>
          </a:bodyPr>
          <a:lstStyle/>
          <a:p>
            <a:pPr algn="ctr">
              <a:lnSpc>
                <a:spcPts val="7279"/>
              </a:lnSpc>
            </a:pPr>
            <a:r>
              <a:rPr lang="en-US" sz="5199">
                <a:solidFill>
                  <a:srgbClr val="503530"/>
                </a:solidFill>
                <a:latin typeface="Squada One"/>
                <a:ea typeface="Squada One"/>
                <a:cs typeface="Squada One"/>
                <a:sym typeface="Squada One"/>
              </a:rPr>
              <a:t>intuition</a:t>
            </a:r>
          </a:p>
        </p:txBody>
      </p:sp>
      <p:sp>
        <p:nvSpPr>
          <p:cNvPr name="TextBox 16" id="16"/>
          <p:cNvSpPr txBox="true"/>
          <p:nvPr/>
        </p:nvSpPr>
        <p:spPr>
          <a:xfrm rot="0">
            <a:off x="1494884" y="1279303"/>
            <a:ext cx="15173917" cy="1477006"/>
          </a:xfrm>
          <a:prstGeom prst="rect">
            <a:avLst/>
          </a:prstGeom>
        </p:spPr>
        <p:txBody>
          <a:bodyPr anchor="t" rtlCol="false" tIns="0" lIns="0" bIns="0" rIns="0">
            <a:spAutoFit/>
          </a:bodyPr>
          <a:lstStyle/>
          <a:p>
            <a:pPr algn="ctr">
              <a:lnSpc>
                <a:spcPts val="12040"/>
              </a:lnSpc>
            </a:pPr>
            <a:r>
              <a:rPr lang="en-US" sz="8600" spc="172">
                <a:solidFill>
                  <a:srgbClr val="503530"/>
                </a:solidFill>
                <a:latin typeface="Squada One"/>
                <a:ea typeface="Squada One"/>
                <a:cs typeface="Squada One"/>
                <a:sym typeface="Squada One"/>
              </a:rPr>
              <a:t>HOW</a:t>
            </a:r>
            <a:r>
              <a:rPr lang="en-US" sz="8600" spc="172">
                <a:solidFill>
                  <a:srgbClr val="503530"/>
                </a:solidFill>
                <a:latin typeface="Squada One"/>
                <a:ea typeface="Squada One"/>
                <a:cs typeface="Squada One"/>
                <a:sym typeface="Squada One"/>
              </a:rPr>
              <a:t> KALMAN FILTER WORKS?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5143500"/>
            <a:ext cx="5135427" cy="4114800"/>
            <a:chOff x="0" y="0"/>
            <a:chExt cx="1352540" cy="1083733"/>
          </a:xfrm>
        </p:grpSpPr>
        <p:sp>
          <p:nvSpPr>
            <p:cNvPr name="Freeform 7" id="7"/>
            <p:cNvSpPr/>
            <p:nvPr/>
          </p:nvSpPr>
          <p:spPr>
            <a:xfrm flipH="false" flipV="false" rot="0">
              <a:off x="0" y="0"/>
              <a:ext cx="1352540" cy="1083733"/>
            </a:xfrm>
            <a:custGeom>
              <a:avLst/>
              <a:gdLst/>
              <a:ahLst/>
              <a:cxnLst/>
              <a:rect r="r" b="b" t="t" l="l"/>
              <a:pathLst>
                <a:path h="1083733" w="1352540">
                  <a:moveTo>
                    <a:pt x="0" y="0"/>
                  </a:moveTo>
                  <a:lnTo>
                    <a:pt x="1352540" y="0"/>
                  </a:lnTo>
                  <a:lnTo>
                    <a:pt x="1352540" y="1083733"/>
                  </a:lnTo>
                  <a:lnTo>
                    <a:pt x="0" y="1083733"/>
                  </a:lnTo>
                  <a:close/>
                </a:path>
              </a:pathLst>
            </a:custGeom>
            <a:solidFill>
              <a:srgbClr val="FFC2C2"/>
            </a:solidFill>
            <a:ln w="95250" cap="sq">
              <a:solidFill>
                <a:srgbClr val="FFFFFF"/>
              </a:solidFill>
              <a:prstDash val="solid"/>
              <a:miter/>
            </a:ln>
          </p:spPr>
        </p:sp>
        <p:sp>
          <p:nvSpPr>
            <p:cNvPr name="TextBox 8" id="8"/>
            <p:cNvSpPr txBox="true"/>
            <p:nvPr/>
          </p:nvSpPr>
          <p:spPr>
            <a:xfrm>
              <a:off x="0" y="-47625"/>
              <a:ext cx="1352540" cy="1131358"/>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grpSp>
        <p:nvGrpSpPr>
          <p:cNvPr name="Group 9" id="9"/>
          <p:cNvGrpSpPr/>
          <p:nvPr/>
        </p:nvGrpSpPr>
        <p:grpSpPr>
          <a:xfrm rot="0">
            <a:off x="1028700" y="3440942"/>
            <a:ext cx="16230600" cy="1442013"/>
            <a:chOff x="0" y="0"/>
            <a:chExt cx="4274726" cy="379789"/>
          </a:xfrm>
        </p:grpSpPr>
        <p:sp>
          <p:nvSpPr>
            <p:cNvPr name="Freeform 10" id="10"/>
            <p:cNvSpPr/>
            <p:nvPr/>
          </p:nvSpPr>
          <p:spPr>
            <a:xfrm flipH="false" flipV="false" rot="0">
              <a:off x="0" y="0"/>
              <a:ext cx="4274726" cy="379789"/>
            </a:xfrm>
            <a:custGeom>
              <a:avLst/>
              <a:gdLst/>
              <a:ahLst/>
              <a:cxnLst/>
              <a:rect r="r" b="b" t="t" l="l"/>
              <a:pathLst>
                <a:path h="379789" w="4274726">
                  <a:moveTo>
                    <a:pt x="0" y="0"/>
                  </a:moveTo>
                  <a:lnTo>
                    <a:pt x="4274726" y="0"/>
                  </a:lnTo>
                  <a:lnTo>
                    <a:pt x="4274726" y="379789"/>
                  </a:lnTo>
                  <a:lnTo>
                    <a:pt x="0" y="379789"/>
                  </a:lnTo>
                  <a:close/>
                </a:path>
              </a:pathLst>
            </a:custGeom>
            <a:solidFill>
              <a:srgbClr val="FFC2C2"/>
            </a:solidFill>
            <a:ln w="95250" cap="sq">
              <a:solidFill>
                <a:srgbClr val="FFFFFF"/>
              </a:solidFill>
              <a:prstDash val="solid"/>
              <a:miter/>
            </a:ln>
          </p:spPr>
        </p:sp>
        <p:sp>
          <p:nvSpPr>
            <p:cNvPr name="TextBox 11" id="11"/>
            <p:cNvSpPr txBox="true"/>
            <p:nvPr/>
          </p:nvSpPr>
          <p:spPr>
            <a:xfrm>
              <a:off x="0" y="-47625"/>
              <a:ext cx="4274726" cy="42741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123873" y="5140130"/>
            <a:ext cx="5135427" cy="4114800"/>
            <a:chOff x="0" y="0"/>
            <a:chExt cx="1352540" cy="1083733"/>
          </a:xfrm>
        </p:grpSpPr>
        <p:sp>
          <p:nvSpPr>
            <p:cNvPr name="Freeform 13" id="13"/>
            <p:cNvSpPr/>
            <p:nvPr/>
          </p:nvSpPr>
          <p:spPr>
            <a:xfrm flipH="false" flipV="false" rot="0">
              <a:off x="0" y="0"/>
              <a:ext cx="1352540" cy="1083733"/>
            </a:xfrm>
            <a:custGeom>
              <a:avLst/>
              <a:gdLst/>
              <a:ahLst/>
              <a:cxnLst/>
              <a:rect r="r" b="b" t="t" l="l"/>
              <a:pathLst>
                <a:path h="1083733" w="1352540">
                  <a:moveTo>
                    <a:pt x="0" y="0"/>
                  </a:moveTo>
                  <a:lnTo>
                    <a:pt x="1352540" y="0"/>
                  </a:lnTo>
                  <a:lnTo>
                    <a:pt x="1352540" y="1083733"/>
                  </a:lnTo>
                  <a:lnTo>
                    <a:pt x="0" y="1083733"/>
                  </a:lnTo>
                  <a:close/>
                </a:path>
              </a:pathLst>
            </a:custGeom>
            <a:solidFill>
              <a:srgbClr val="FFC2C2"/>
            </a:solidFill>
            <a:ln w="95250" cap="sq">
              <a:solidFill>
                <a:srgbClr val="FFFFFF"/>
              </a:solidFill>
              <a:prstDash val="solid"/>
              <a:miter/>
            </a:ln>
          </p:spPr>
        </p:sp>
        <p:sp>
          <p:nvSpPr>
            <p:cNvPr name="TextBox 14" id="14"/>
            <p:cNvSpPr txBox="true"/>
            <p:nvPr/>
          </p:nvSpPr>
          <p:spPr>
            <a:xfrm>
              <a:off x="0" y="-47625"/>
              <a:ext cx="1352540" cy="113135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576287" y="5143500"/>
            <a:ext cx="5135427" cy="4114800"/>
            <a:chOff x="0" y="0"/>
            <a:chExt cx="1352540" cy="1083733"/>
          </a:xfrm>
        </p:grpSpPr>
        <p:sp>
          <p:nvSpPr>
            <p:cNvPr name="Freeform 16" id="16"/>
            <p:cNvSpPr/>
            <p:nvPr/>
          </p:nvSpPr>
          <p:spPr>
            <a:xfrm flipH="false" flipV="false" rot="0">
              <a:off x="0" y="0"/>
              <a:ext cx="1352540" cy="1083733"/>
            </a:xfrm>
            <a:custGeom>
              <a:avLst/>
              <a:gdLst/>
              <a:ahLst/>
              <a:cxnLst/>
              <a:rect r="r" b="b" t="t" l="l"/>
              <a:pathLst>
                <a:path h="1083733" w="1352540">
                  <a:moveTo>
                    <a:pt x="0" y="0"/>
                  </a:moveTo>
                  <a:lnTo>
                    <a:pt x="1352540" y="0"/>
                  </a:lnTo>
                  <a:lnTo>
                    <a:pt x="1352540" y="1083733"/>
                  </a:lnTo>
                  <a:lnTo>
                    <a:pt x="0" y="1083733"/>
                  </a:lnTo>
                  <a:close/>
                </a:path>
              </a:pathLst>
            </a:custGeom>
            <a:solidFill>
              <a:srgbClr val="FFC2C2"/>
            </a:solidFill>
            <a:ln w="95250" cap="sq">
              <a:solidFill>
                <a:srgbClr val="FFFFFF"/>
              </a:solidFill>
              <a:prstDash val="solid"/>
              <a:miter/>
            </a:ln>
          </p:spPr>
        </p:sp>
        <p:sp>
          <p:nvSpPr>
            <p:cNvPr name="TextBox 17" id="17"/>
            <p:cNvSpPr txBox="true"/>
            <p:nvPr/>
          </p:nvSpPr>
          <p:spPr>
            <a:xfrm>
              <a:off x="0" y="-47625"/>
              <a:ext cx="1352540" cy="113135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1286634" y="6366281"/>
            <a:ext cx="4619560" cy="426421"/>
          </a:xfrm>
          <a:custGeom>
            <a:avLst/>
            <a:gdLst/>
            <a:ahLst/>
            <a:cxnLst/>
            <a:rect r="r" b="b" t="t" l="l"/>
            <a:pathLst>
              <a:path h="426421" w="4619560">
                <a:moveTo>
                  <a:pt x="0" y="0"/>
                </a:moveTo>
                <a:lnTo>
                  <a:pt x="4619559" y="0"/>
                </a:lnTo>
                <a:lnTo>
                  <a:pt x="4619559" y="426421"/>
                </a:lnTo>
                <a:lnTo>
                  <a:pt x="0" y="426421"/>
                </a:lnTo>
                <a:lnTo>
                  <a:pt x="0" y="0"/>
                </a:lnTo>
                <a:close/>
              </a:path>
            </a:pathLst>
          </a:custGeom>
          <a:blipFill>
            <a:blip r:embed="rId3"/>
            <a:stretch>
              <a:fillRect l="0" t="0" r="0" b="0"/>
            </a:stretch>
          </a:blipFill>
        </p:spPr>
      </p:sp>
      <p:sp>
        <p:nvSpPr>
          <p:cNvPr name="Freeform 19" id="19"/>
          <p:cNvSpPr/>
          <p:nvPr/>
        </p:nvSpPr>
        <p:spPr>
          <a:xfrm flipH="false" flipV="false" rot="0">
            <a:off x="1779918" y="7478502"/>
            <a:ext cx="3632991" cy="558922"/>
          </a:xfrm>
          <a:custGeom>
            <a:avLst/>
            <a:gdLst/>
            <a:ahLst/>
            <a:cxnLst/>
            <a:rect r="r" b="b" t="t" l="l"/>
            <a:pathLst>
              <a:path h="558922" w="3632991">
                <a:moveTo>
                  <a:pt x="0" y="0"/>
                </a:moveTo>
                <a:lnTo>
                  <a:pt x="3632991" y="0"/>
                </a:lnTo>
                <a:lnTo>
                  <a:pt x="3632991" y="558921"/>
                </a:lnTo>
                <a:lnTo>
                  <a:pt x="0" y="558921"/>
                </a:lnTo>
                <a:lnTo>
                  <a:pt x="0" y="0"/>
                </a:lnTo>
                <a:close/>
              </a:path>
            </a:pathLst>
          </a:custGeom>
          <a:blipFill>
            <a:blip r:embed="rId4"/>
            <a:stretch>
              <a:fillRect l="0" t="0" r="0" b="0"/>
            </a:stretch>
          </a:blipFill>
        </p:spPr>
      </p:sp>
      <p:sp>
        <p:nvSpPr>
          <p:cNvPr name="Freeform 20" id="20"/>
          <p:cNvSpPr/>
          <p:nvPr/>
        </p:nvSpPr>
        <p:spPr>
          <a:xfrm flipH="false" flipV="false" rot="0">
            <a:off x="4303088" y="4846591"/>
            <a:ext cx="6494830" cy="398350"/>
          </a:xfrm>
          <a:custGeom>
            <a:avLst/>
            <a:gdLst/>
            <a:ahLst/>
            <a:cxnLst/>
            <a:rect r="r" b="b" t="t" l="l"/>
            <a:pathLst>
              <a:path h="398350" w="6494830">
                <a:moveTo>
                  <a:pt x="0" y="0"/>
                </a:moveTo>
                <a:lnTo>
                  <a:pt x="6494830" y="0"/>
                </a:lnTo>
                <a:lnTo>
                  <a:pt x="6494830" y="398349"/>
                </a:lnTo>
                <a:lnTo>
                  <a:pt x="0" y="398349"/>
                </a:lnTo>
                <a:lnTo>
                  <a:pt x="0" y="0"/>
                </a:lnTo>
                <a:close/>
              </a:path>
            </a:pathLst>
          </a:custGeom>
          <a:blipFill>
            <a:blip r:embed="rId5"/>
            <a:stretch>
              <a:fillRect l="0" t="0" r="0" b="0"/>
            </a:stretch>
          </a:blipFill>
        </p:spPr>
      </p:sp>
      <p:sp>
        <p:nvSpPr>
          <p:cNvPr name="Freeform 21" id="21"/>
          <p:cNvSpPr/>
          <p:nvPr/>
        </p:nvSpPr>
        <p:spPr>
          <a:xfrm flipH="false" flipV="false" rot="0">
            <a:off x="7028437" y="6408525"/>
            <a:ext cx="4231126" cy="481762"/>
          </a:xfrm>
          <a:custGeom>
            <a:avLst/>
            <a:gdLst/>
            <a:ahLst/>
            <a:cxnLst/>
            <a:rect r="r" b="b" t="t" l="l"/>
            <a:pathLst>
              <a:path h="481762" w="4231126">
                <a:moveTo>
                  <a:pt x="0" y="0"/>
                </a:moveTo>
                <a:lnTo>
                  <a:pt x="4231126" y="0"/>
                </a:lnTo>
                <a:lnTo>
                  <a:pt x="4231126" y="481762"/>
                </a:lnTo>
                <a:lnTo>
                  <a:pt x="0" y="481762"/>
                </a:lnTo>
                <a:lnTo>
                  <a:pt x="0" y="0"/>
                </a:lnTo>
                <a:close/>
              </a:path>
            </a:pathLst>
          </a:custGeom>
          <a:blipFill>
            <a:blip r:embed="rId6"/>
            <a:stretch>
              <a:fillRect l="0" t="0" r="0" b="0"/>
            </a:stretch>
          </a:blipFill>
        </p:spPr>
      </p:sp>
      <p:sp>
        <p:nvSpPr>
          <p:cNvPr name="Freeform 22" id="22"/>
          <p:cNvSpPr/>
          <p:nvPr/>
        </p:nvSpPr>
        <p:spPr>
          <a:xfrm flipH="false" flipV="false" rot="0">
            <a:off x="7028437" y="7576087"/>
            <a:ext cx="4231126" cy="498954"/>
          </a:xfrm>
          <a:custGeom>
            <a:avLst/>
            <a:gdLst/>
            <a:ahLst/>
            <a:cxnLst/>
            <a:rect r="r" b="b" t="t" l="l"/>
            <a:pathLst>
              <a:path h="498954" w="4231126">
                <a:moveTo>
                  <a:pt x="0" y="0"/>
                </a:moveTo>
                <a:lnTo>
                  <a:pt x="4231126" y="0"/>
                </a:lnTo>
                <a:lnTo>
                  <a:pt x="4231126" y="498954"/>
                </a:lnTo>
                <a:lnTo>
                  <a:pt x="0" y="498954"/>
                </a:lnTo>
                <a:lnTo>
                  <a:pt x="0" y="0"/>
                </a:lnTo>
                <a:close/>
              </a:path>
            </a:pathLst>
          </a:custGeom>
          <a:blipFill>
            <a:blip r:embed="rId7"/>
            <a:stretch>
              <a:fillRect l="0" t="0" r="0" b="0"/>
            </a:stretch>
          </a:blipFill>
        </p:spPr>
      </p:sp>
      <p:sp>
        <p:nvSpPr>
          <p:cNvPr name="Freeform 23" id="23"/>
          <p:cNvSpPr/>
          <p:nvPr/>
        </p:nvSpPr>
        <p:spPr>
          <a:xfrm flipH="false" flipV="false" rot="0">
            <a:off x="12752436" y="6366281"/>
            <a:ext cx="4218993" cy="683358"/>
          </a:xfrm>
          <a:custGeom>
            <a:avLst/>
            <a:gdLst/>
            <a:ahLst/>
            <a:cxnLst/>
            <a:rect r="r" b="b" t="t" l="l"/>
            <a:pathLst>
              <a:path h="683358" w="4218993">
                <a:moveTo>
                  <a:pt x="0" y="0"/>
                </a:moveTo>
                <a:lnTo>
                  <a:pt x="4218994" y="0"/>
                </a:lnTo>
                <a:lnTo>
                  <a:pt x="4218994" y="683358"/>
                </a:lnTo>
                <a:lnTo>
                  <a:pt x="0" y="683358"/>
                </a:lnTo>
                <a:lnTo>
                  <a:pt x="0" y="0"/>
                </a:lnTo>
                <a:close/>
              </a:path>
            </a:pathLst>
          </a:custGeom>
          <a:blipFill>
            <a:blip r:embed="rId8"/>
            <a:stretch>
              <a:fillRect l="0" t="0" r="0" b="0"/>
            </a:stretch>
          </a:blipFill>
        </p:spPr>
      </p:sp>
      <p:sp>
        <p:nvSpPr>
          <p:cNvPr name="Freeform 24" id="24"/>
          <p:cNvSpPr/>
          <p:nvPr/>
        </p:nvSpPr>
        <p:spPr>
          <a:xfrm flipH="false" flipV="false" rot="0">
            <a:off x="12578488" y="7574552"/>
            <a:ext cx="4566889" cy="648706"/>
          </a:xfrm>
          <a:custGeom>
            <a:avLst/>
            <a:gdLst/>
            <a:ahLst/>
            <a:cxnLst/>
            <a:rect r="r" b="b" t="t" l="l"/>
            <a:pathLst>
              <a:path h="648706" w="4566889">
                <a:moveTo>
                  <a:pt x="0" y="0"/>
                </a:moveTo>
                <a:lnTo>
                  <a:pt x="4566890" y="0"/>
                </a:lnTo>
                <a:lnTo>
                  <a:pt x="4566890" y="648706"/>
                </a:lnTo>
                <a:lnTo>
                  <a:pt x="0" y="648706"/>
                </a:lnTo>
                <a:lnTo>
                  <a:pt x="0" y="0"/>
                </a:lnTo>
                <a:close/>
              </a:path>
            </a:pathLst>
          </a:custGeom>
          <a:blipFill>
            <a:blip r:embed="rId9"/>
            <a:stretch>
              <a:fillRect l="0" t="0" r="0" b="0"/>
            </a:stretch>
          </a:blipFill>
        </p:spPr>
      </p:sp>
      <p:sp>
        <p:nvSpPr>
          <p:cNvPr name="TextBox 25" id="25"/>
          <p:cNvSpPr txBox="true"/>
          <p:nvPr/>
        </p:nvSpPr>
        <p:spPr>
          <a:xfrm rot="0">
            <a:off x="2615576" y="3659566"/>
            <a:ext cx="12932532" cy="896620"/>
          </a:xfrm>
          <a:prstGeom prst="rect">
            <a:avLst/>
          </a:prstGeom>
        </p:spPr>
        <p:txBody>
          <a:bodyPr anchor="t" rtlCol="false" tIns="0" lIns="0" bIns="0" rIns="0">
            <a:spAutoFit/>
          </a:bodyPr>
          <a:lstStyle/>
          <a:p>
            <a:pPr algn="ctr">
              <a:lnSpc>
                <a:spcPts val="7279"/>
              </a:lnSpc>
            </a:pPr>
            <a:r>
              <a:rPr lang="en-US" sz="5199">
                <a:solidFill>
                  <a:srgbClr val="503530"/>
                </a:solidFill>
                <a:latin typeface="Squada One"/>
                <a:ea typeface="Squada One"/>
                <a:cs typeface="Squada One"/>
                <a:sym typeface="Squada One"/>
              </a:rPr>
              <a:t>math</a:t>
            </a:r>
          </a:p>
        </p:txBody>
      </p:sp>
      <p:sp>
        <p:nvSpPr>
          <p:cNvPr name="TextBox 26" id="26"/>
          <p:cNvSpPr txBox="true"/>
          <p:nvPr/>
        </p:nvSpPr>
        <p:spPr>
          <a:xfrm rot="0">
            <a:off x="1793374" y="1279303"/>
            <a:ext cx="15161447" cy="1477006"/>
          </a:xfrm>
          <a:prstGeom prst="rect">
            <a:avLst/>
          </a:prstGeom>
        </p:spPr>
        <p:txBody>
          <a:bodyPr anchor="t" rtlCol="false" tIns="0" lIns="0" bIns="0" rIns="0">
            <a:spAutoFit/>
          </a:bodyPr>
          <a:lstStyle/>
          <a:p>
            <a:pPr algn="ctr">
              <a:lnSpc>
                <a:spcPts val="12040"/>
              </a:lnSpc>
            </a:pPr>
            <a:r>
              <a:rPr lang="en-US" sz="8600" spc="172">
                <a:solidFill>
                  <a:srgbClr val="503530"/>
                </a:solidFill>
                <a:latin typeface="Squada One"/>
                <a:ea typeface="Squada One"/>
                <a:cs typeface="Squada One"/>
                <a:sym typeface="Squada One"/>
              </a:rPr>
              <a:t>HOW K</a:t>
            </a:r>
            <a:r>
              <a:rPr lang="en-US" sz="8600" spc="172">
                <a:solidFill>
                  <a:srgbClr val="503530"/>
                </a:solidFill>
                <a:latin typeface="Squada One"/>
                <a:ea typeface="Squada One"/>
                <a:cs typeface="Squada One"/>
                <a:sym typeface="Squada One"/>
              </a:rPr>
              <a:t>ALMAN FILTER WORKS?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3440942"/>
            <a:ext cx="16230600" cy="1442013"/>
            <a:chOff x="0" y="0"/>
            <a:chExt cx="4274726" cy="379789"/>
          </a:xfrm>
        </p:grpSpPr>
        <p:sp>
          <p:nvSpPr>
            <p:cNvPr name="Freeform 7" id="7"/>
            <p:cNvSpPr/>
            <p:nvPr/>
          </p:nvSpPr>
          <p:spPr>
            <a:xfrm flipH="false" flipV="false" rot="0">
              <a:off x="0" y="0"/>
              <a:ext cx="4274726" cy="379789"/>
            </a:xfrm>
            <a:custGeom>
              <a:avLst/>
              <a:gdLst/>
              <a:ahLst/>
              <a:cxnLst/>
              <a:rect r="r" b="b" t="t" l="l"/>
              <a:pathLst>
                <a:path h="379789" w="4274726">
                  <a:moveTo>
                    <a:pt x="0" y="0"/>
                  </a:moveTo>
                  <a:lnTo>
                    <a:pt x="4274726" y="0"/>
                  </a:lnTo>
                  <a:lnTo>
                    <a:pt x="4274726" y="379789"/>
                  </a:lnTo>
                  <a:lnTo>
                    <a:pt x="0" y="379789"/>
                  </a:lnTo>
                  <a:close/>
                </a:path>
              </a:pathLst>
            </a:custGeom>
            <a:solidFill>
              <a:srgbClr val="FFC2C2"/>
            </a:solidFill>
            <a:ln w="95250" cap="sq">
              <a:solidFill>
                <a:srgbClr val="FFFFFF"/>
              </a:solidFill>
              <a:prstDash val="solid"/>
              <a:miter/>
            </a:ln>
          </p:spPr>
        </p:sp>
        <p:sp>
          <p:nvSpPr>
            <p:cNvPr name="TextBox 8" id="8"/>
            <p:cNvSpPr txBox="true"/>
            <p:nvPr/>
          </p:nvSpPr>
          <p:spPr>
            <a:xfrm>
              <a:off x="0" y="-47625"/>
              <a:ext cx="4274726" cy="42741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303088" y="4846591"/>
            <a:ext cx="6494830" cy="398350"/>
          </a:xfrm>
          <a:custGeom>
            <a:avLst/>
            <a:gdLst/>
            <a:ahLst/>
            <a:cxnLst/>
            <a:rect r="r" b="b" t="t" l="l"/>
            <a:pathLst>
              <a:path h="398350" w="6494830">
                <a:moveTo>
                  <a:pt x="0" y="0"/>
                </a:moveTo>
                <a:lnTo>
                  <a:pt x="6494830" y="0"/>
                </a:lnTo>
                <a:lnTo>
                  <a:pt x="6494830" y="398349"/>
                </a:lnTo>
                <a:lnTo>
                  <a:pt x="0" y="398349"/>
                </a:lnTo>
                <a:lnTo>
                  <a:pt x="0" y="0"/>
                </a:lnTo>
                <a:close/>
              </a:path>
            </a:pathLst>
          </a:custGeom>
          <a:blipFill>
            <a:blip r:embed="rId3"/>
            <a:stretch>
              <a:fillRect l="0" t="0" r="0" b="0"/>
            </a:stretch>
          </a:blipFill>
        </p:spPr>
      </p:sp>
      <p:sp>
        <p:nvSpPr>
          <p:cNvPr name="Freeform 10" id="10"/>
          <p:cNvSpPr/>
          <p:nvPr/>
        </p:nvSpPr>
        <p:spPr>
          <a:xfrm flipH="false" flipV="false" rot="0">
            <a:off x="4058317" y="3907193"/>
            <a:ext cx="10171366" cy="610952"/>
          </a:xfrm>
          <a:custGeom>
            <a:avLst/>
            <a:gdLst/>
            <a:ahLst/>
            <a:cxnLst/>
            <a:rect r="r" b="b" t="t" l="l"/>
            <a:pathLst>
              <a:path h="610952" w="10171366">
                <a:moveTo>
                  <a:pt x="0" y="0"/>
                </a:moveTo>
                <a:lnTo>
                  <a:pt x="10171366" y="0"/>
                </a:lnTo>
                <a:lnTo>
                  <a:pt x="10171366" y="610952"/>
                </a:lnTo>
                <a:lnTo>
                  <a:pt x="0" y="610952"/>
                </a:lnTo>
                <a:lnTo>
                  <a:pt x="0" y="0"/>
                </a:lnTo>
                <a:close/>
              </a:path>
            </a:pathLst>
          </a:custGeom>
          <a:blipFill>
            <a:blip r:embed="rId4"/>
            <a:stretch>
              <a:fillRect l="0" t="-1896" r="0" b="-1896"/>
            </a:stretch>
          </a:blipFill>
        </p:spPr>
      </p:sp>
      <p:grpSp>
        <p:nvGrpSpPr>
          <p:cNvPr name="Group 11" id="11"/>
          <p:cNvGrpSpPr/>
          <p:nvPr/>
        </p:nvGrpSpPr>
        <p:grpSpPr>
          <a:xfrm rot="0">
            <a:off x="1028700" y="5143500"/>
            <a:ext cx="16230600" cy="1442013"/>
            <a:chOff x="0" y="0"/>
            <a:chExt cx="4274726" cy="379789"/>
          </a:xfrm>
        </p:grpSpPr>
        <p:sp>
          <p:nvSpPr>
            <p:cNvPr name="Freeform 12" id="12"/>
            <p:cNvSpPr/>
            <p:nvPr/>
          </p:nvSpPr>
          <p:spPr>
            <a:xfrm flipH="false" flipV="false" rot="0">
              <a:off x="0" y="0"/>
              <a:ext cx="4274726" cy="379789"/>
            </a:xfrm>
            <a:custGeom>
              <a:avLst/>
              <a:gdLst/>
              <a:ahLst/>
              <a:cxnLst/>
              <a:rect r="r" b="b" t="t" l="l"/>
              <a:pathLst>
                <a:path h="379789" w="4274726">
                  <a:moveTo>
                    <a:pt x="0" y="0"/>
                  </a:moveTo>
                  <a:lnTo>
                    <a:pt x="4274726" y="0"/>
                  </a:lnTo>
                  <a:lnTo>
                    <a:pt x="4274726" y="379789"/>
                  </a:lnTo>
                  <a:lnTo>
                    <a:pt x="0" y="379789"/>
                  </a:lnTo>
                  <a:close/>
                </a:path>
              </a:pathLst>
            </a:custGeom>
            <a:solidFill>
              <a:srgbClr val="FFC2C2"/>
            </a:solidFill>
            <a:ln w="95250" cap="sq">
              <a:solidFill>
                <a:srgbClr val="FFFFFF"/>
              </a:solidFill>
              <a:prstDash val="solid"/>
              <a:miter/>
            </a:ln>
          </p:spPr>
        </p:sp>
        <p:sp>
          <p:nvSpPr>
            <p:cNvPr name="TextBox 13" id="13"/>
            <p:cNvSpPr txBox="true"/>
            <p:nvPr/>
          </p:nvSpPr>
          <p:spPr>
            <a:xfrm>
              <a:off x="0" y="-47625"/>
              <a:ext cx="4274726" cy="42741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4058317" y="5518999"/>
            <a:ext cx="10474187" cy="642417"/>
          </a:xfrm>
          <a:custGeom>
            <a:avLst/>
            <a:gdLst/>
            <a:ahLst/>
            <a:cxnLst/>
            <a:rect r="r" b="b" t="t" l="l"/>
            <a:pathLst>
              <a:path h="642417" w="10474187">
                <a:moveTo>
                  <a:pt x="0" y="0"/>
                </a:moveTo>
                <a:lnTo>
                  <a:pt x="10474187" y="0"/>
                </a:lnTo>
                <a:lnTo>
                  <a:pt x="10474187" y="642417"/>
                </a:lnTo>
                <a:lnTo>
                  <a:pt x="0" y="642417"/>
                </a:lnTo>
                <a:lnTo>
                  <a:pt x="0" y="0"/>
                </a:lnTo>
                <a:close/>
              </a:path>
            </a:pathLst>
          </a:custGeom>
          <a:blipFill>
            <a:blip r:embed="rId3"/>
            <a:stretch>
              <a:fillRect l="0" t="0" r="0" b="0"/>
            </a:stretch>
          </a:blipFill>
        </p:spPr>
      </p:sp>
      <p:grpSp>
        <p:nvGrpSpPr>
          <p:cNvPr name="Group 15" id="15"/>
          <p:cNvGrpSpPr/>
          <p:nvPr/>
        </p:nvGrpSpPr>
        <p:grpSpPr>
          <a:xfrm rot="0">
            <a:off x="1028700" y="6909363"/>
            <a:ext cx="16230600" cy="1442013"/>
            <a:chOff x="0" y="0"/>
            <a:chExt cx="4274726" cy="379789"/>
          </a:xfrm>
        </p:grpSpPr>
        <p:sp>
          <p:nvSpPr>
            <p:cNvPr name="Freeform 16" id="16"/>
            <p:cNvSpPr/>
            <p:nvPr/>
          </p:nvSpPr>
          <p:spPr>
            <a:xfrm flipH="false" flipV="false" rot="0">
              <a:off x="0" y="0"/>
              <a:ext cx="4274726" cy="379789"/>
            </a:xfrm>
            <a:custGeom>
              <a:avLst/>
              <a:gdLst/>
              <a:ahLst/>
              <a:cxnLst/>
              <a:rect r="r" b="b" t="t" l="l"/>
              <a:pathLst>
                <a:path h="379789" w="4274726">
                  <a:moveTo>
                    <a:pt x="0" y="0"/>
                  </a:moveTo>
                  <a:lnTo>
                    <a:pt x="4274726" y="0"/>
                  </a:lnTo>
                  <a:lnTo>
                    <a:pt x="4274726" y="379789"/>
                  </a:lnTo>
                  <a:lnTo>
                    <a:pt x="0" y="379789"/>
                  </a:lnTo>
                  <a:close/>
                </a:path>
              </a:pathLst>
            </a:custGeom>
            <a:solidFill>
              <a:srgbClr val="FFC2C2"/>
            </a:solidFill>
            <a:ln w="95250" cap="sq">
              <a:solidFill>
                <a:srgbClr val="FFFFFF"/>
              </a:solidFill>
              <a:prstDash val="solid"/>
              <a:miter/>
            </a:ln>
          </p:spPr>
        </p:sp>
        <p:sp>
          <p:nvSpPr>
            <p:cNvPr name="TextBox 17" id="17"/>
            <p:cNvSpPr txBox="true"/>
            <p:nvPr/>
          </p:nvSpPr>
          <p:spPr>
            <a:xfrm>
              <a:off x="0" y="-47625"/>
              <a:ext cx="4274726" cy="427414"/>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058317" y="7214163"/>
            <a:ext cx="10862046" cy="519218"/>
          </a:xfrm>
          <a:custGeom>
            <a:avLst/>
            <a:gdLst/>
            <a:ahLst/>
            <a:cxnLst/>
            <a:rect r="r" b="b" t="t" l="l"/>
            <a:pathLst>
              <a:path h="519218" w="10862046">
                <a:moveTo>
                  <a:pt x="0" y="0"/>
                </a:moveTo>
                <a:lnTo>
                  <a:pt x="10862047" y="0"/>
                </a:lnTo>
                <a:lnTo>
                  <a:pt x="10862047" y="519218"/>
                </a:lnTo>
                <a:lnTo>
                  <a:pt x="0" y="519218"/>
                </a:lnTo>
                <a:lnTo>
                  <a:pt x="0" y="0"/>
                </a:lnTo>
                <a:close/>
              </a:path>
            </a:pathLst>
          </a:custGeom>
          <a:blipFill>
            <a:blip r:embed="rId5"/>
            <a:stretch>
              <a:fillRect l="0" t="0" r="0" b="0"/>
            </a:stretch>
          </a:blipFill>
        </p:spPr>
      </p:sp>
      <p:sp>
        <p:nvSpPr>
          <p:cNvPr name="TextBox 19" id="19"/>
          <p:cNvSpPr txBox="true"/>
          <p:nvPr/>
        </p:nvSpPr>
        <p:spPr>
          <a:xfrm rot="0">
            <a:off x="1793374" y="1279303"/>
            <a:ext cx="15161447" cy="1477006"/>
          </a:xfrm>
          <a:prstGeom prst="rect">
            <a:avLst/>
          </a:prstGeom>
        </p:spPr>
        <p:txBody>
          <a:bodyPr anchor="t" rtlCol="false" tIns="0" lIns="0" bIns="0" rIns="0">
            <a:spAutoFit/>
          </a:bodyPr>
          <a:lstStyle/>
          <a:p>
            <a:pPr algn="ctr">
              <a:lnSpc>
                <a:spcPts val="12040"/>
              </a:lnSpc>
            </a:pPr>
            <a:r>
              <a:rPr lang="en-US" sz="8600" spc="172">
                <a:solidFill>
                  <a:srgbClr val="503530"/>
                </a:solidFill>
                <a:latin typeface="Squada One"/>
                <a:ea typeface="Squada One"/>
                <a:cs typeface="Squada One"/>
                <a:sym typeface="Squada One"/>
              </a:rPr>
              <a:t>HOW K</a:t>
            </a:r>
            <a:r>
              <a:rPr lang="en-US" sz="8600" spc="172">
                <a:solidFill>
                  <a:srgbClr val="503530"/>
                </a:solidFill>
                <a:latin typeface="Squada One"/>
                <a:ea typeface="Squada One"/>
                <a:cs typeface="Squada One"/>
                <a:sym typeface="Squada One"/>
              </a:rPr>
              <a:t>ALMAN FILTER WORKS?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805673" y="1279303"/>
            <a:ext cx="14676654" cy="1477006"/>
          </a:xfrm>
          <a:prstGeom prst="rect">
            <a:avLst/>
          </a:prstGeom>
        </p:spPr>
        <p:txBody>
          <a:bodyPr anchor="t" rtlCol="false" tIns="0" lIns="0" bIns="0" rIns="0">
            <a:spAutoFit/>
          </a:bodyPr>
          <a:lstStyle/>
          <a:p>
            <a:pPr algn="ctr">
              <a:lnSpc>
                <a:spcPts val="12040"/>
              </a:lnSpc>
            </a:pPr>
            <a:r>
              <a:rPr lang="en-US" sz="8600" spc="172">
                <a:solidFill>
                  <a:srgbClr val="503530"/>
                </a:solidFill>
                <a:latin typeface="Squada One"/>
                <a:ea typeface="Squada One"/>
                <a:cs typeface="Squada One"/>
                <a:sym typeface="Squada One"/>
              </a:rPr>
              <a:t>HOW TO USE KALMAN FILTER</a:t>
            </a:r>
          </a:p>
        </p:txBody>
      </p:sp>
      <p:grpSp>
        <p:nvGrpSpPr>
          <p:cNvPr name="Group 7" id="7"/>
          <p:cNvGrpSpPr/>
          <p:nvPr/>
        </p:nvGrpSpPr>
        <p:grpSpPr>
          <a:xfrm rot="0">
            <a:off x="1028700" y="3435940"/>
            <a:ext cx="7971759" cy="5944895"/>
            <a:chOff x="0" y="0"/>
            <a:chExt cx="2099558" cy="1565734"/>
          </a:xfrm>
        </p:grpSpPr>
        <p:sp>
          <p:nvSpPr>
            <p:cNvPr name="Freeform 8" id="8"/>
            <p:cNvSpPr/>
            <p:nvPr/>
          </p:nvSpPr>
          <p:spPr>
            <a:xfrm flipH="false" flipV="false" rot="0">
              <a:off x="0" y="0"/>
              <a:ext cx="2099558" cy="1565734"/>
            </a:xfrm>
            <a:custGeom>
              <a:avLst/>
              <a:gdLst/>
              <a:ahLst/>
              <a:cxnLst/>
              <a:rect r="r" b="b" t="t" l="l"/>
              <a:pathLst>
                <a:path h="1565734" w="2099558">
                  <a:moveTo>
                    <a:pt x="0" y="0"/>
                  </a:moveTo>
                  <a:lnTo>
                    <a:pt x="2099558" y="0"/>
                  </a:lnTo>
                  <a:lnTo>
                    <a:pt x="2099558" y="1565734"/>
                  </a:lnTo>
                  <a:lnTo>
                    <a:pt x="0" y="1565734"/>
                  </a:lnTo>
                  <a:close/>
                </a:path>
              </a:pathLst>
            </a:custGeom>
            <a:solidFill>
              <a:srgbClr val="FFD9C2"/>
            </a:solidFill>
            <a:ln w="95250" cap="sq">
              <a:solidFill>
                <a:srgbClr val="FFFFFF"/>
              </a:solidFill>
              <a:prstDash val="solid"/>
              <a:miter/>
            </a:ln>
          </p:spPr>
        </p:sp>
        <p:sp>
          <p:nvSpPr>
            <p:cNvPr name="TextBox 9" id="9"/>
            <p:cNvSpPr txBox="true"/>
            <p:nvPr/>
          </p:nvSpPr>
          <p:spPr>
            <a:xfrm>
              <a:off x="0" y="-76200"/>
              <a:ext cx="2099558" cy="1641934"/>
            </a:xfrm>
            <a:prstGeom prst="rect">
              <a:avLst/>
            </a:prstGeom>
          </p:spPr>
          <p:txBody>
            <a:bodyPr anchor="ctr" rtlCol="false" tIns="50800" lIns="50800" bIns="50800" rIns="50800"/>
            <a:lstStyle/>
            <a:p>
              <a:pPr algn="ctr">
                <a:lnSpc>
                  <a:spcPts val="5040"/>
                </a:lnSpc>
              </a:pPr>
              <a:r>
                <a:rPr lang="en-US" sz="3600" spc="53">
                  <a:solidFill>
                    <a:srgbClr val="503530"/>
                  </a:solidFill>
                  <a:latin typeface="Squada One"/>
                  <a:ea typeface="Squada One"/>
                  <a:cs typeface="Squada One"/>
                  <a:sym typeface="Squada One"/>
                </a:rPr>
                <a:t>Define matrices:</a:t>
              </a:r>
              <a:r>
                <a:rPr lang="en-US" sz="3600" spc="53">
                  <a:solidFill>
                    <a:srgbClr val="503530"/>
                  </a:solidFill>
                  <a:latin typeface="Squada One"/>
                  <a:ea typeface="Squada One"/>
                  <a:cs typeface="Squada One"/>
                  <a:sym typeface="Squada One"/>
                </a:rPr>
                <a:t> Set up state transition (F), measurement (H), process noise covariance (Q), and measurement noise covariance (R) matrices. </a:t>
              </a:r>
            </a:p>
            <a:p>
              <a:pPr algn="ctr">
                <a:lnSpc>
                  <a:spcPts val="5040"/>
                </a:lnSpc>
              </a:pPr>
            </a:p>
            <a:p>
              <a:pPr algn="ctr">
                <a:lnSpc>
                  <a:spcPts val="5040"/>
                </a:lnSpc>
                <a:spcBef>
                  <a:spcPct val="0"/>
                </a:spcBef>
              </a:pPr>
              <a:r>
                <a:rPr lang="en-US" sz="3600" spc="53">
                  <a:solidFill>
                    <a:srgbClr val="503530"/>
                  </a:solidFill>
                  <a:latin typeface="Squada One"/>
                  <a:ea typeface="Squada One"/>
                  <a:cs typeface="Squada One"/>
                  <a:sym typeface="Squada One"/>
                </a:rPr>
                <a:t>Initialize:</a:t>
              </a:r>
              <a:r>
                <a:rPr lang="en-US" sz="3600" spc="53">
                  <a:solidFill>
                    <a:srgbClr val="503530"/>
                  </a:solidFill>
                  <a:latin typeface="Squada One"/>
                  <a:ea typeface="Squada One"/>
                  <a:cs typeface="Squada One"/>
                  <a:sym typeface="Squada One"/>
                </a:rPr>
                <a:t> Set a starting guess for state x and error covariance P. </a:t>
              </a:r>
            </a:p>
          </p:txBody>
        </p:sp>
      </p:grpSp>
      <p:grpSp>
        <p:nvGrpSpPr>
          <p:cNvPr name="Group 10" id="10"/>
          <p:cNvGrpSpPr/>
          <p:nvPr/>
        </p:nvGrpSpPr>
        <p:grpSpPr>
          <a:xfrm rot="0">
            <a:off x="9574623" y="3435940"/>
            <a:ext cx="7684677" cy="5944895"/>
            <a:chOff x="0" y="0"/>
            <a:chExt cx="2023948" cy="1565734"/>
          </a:xfrm>
        </p:grpSpPr>
        <p:sp>
          <p:nvSpPr>
            <p:cNvPr name="Freeform 11" id="11"/>
            <p:cNvSpPr/>
            <p:nvPr/>
          </p:nvSpPr>
          <p:spPr>
            <a:xfrm flipH="false" flipV="false" rot="0">
              <a:off x="0" y="0"/>
              <a:ext cx="2023948" cy="1565734"/>
            </a:xfrm>
            <a:custGeom>
              <a:avLst/>
              <a:gdLst/>
              <a:ahLst/>
              <a:cxnLst/>
              <a:rect r="r" b="b" t="t" l="l"/>
              <a:pathLst>
                <a:path h="1565734" w="2023948">
                  <a:moveTo>
                    <a:pt x="0" y="0"/>
                  </a:moveTo>
                  <a:lnTo>
                    <a:pt x="2023948" y="0"/>
                  </a:lnTo>
                  <a:lnTo>
                    <a:pt x="2023948" y="1565734"/>
                  </a:lnTo>
                  <a:lnTo>
                    <a:pt x="0" y="1565734"/>
                  </a:lnTo>
                  <a:close/>
                </a:path>
              </a:pathLst>
            </a:custGeom>
            <a:solidFill>
              <a:srgbClr val="FFD9C2"/>
            </a:solidFill>
            <a:ln w="95250" cap="sq">
              <a:solidFill>
                <a:srgbClr val="FFFFFF"/>
              </a:solidFill>
              <a:prstDash val="solid"/>
              <a:miter/>
            </a:ln>
          </p:spPr>
        </p:sp>
        <p:sp>
          <p:nvSpPr>
            <p:cNvPr name="TextBox 12" id="12"/>
            <p:cNvSpPr txBox="true"/>
            <p:nvPr/>
          </p:nvSpPr>
          <p:spPr>
            <a:xfrm>
              <a:off x="0" y="-76200"/>
              <a:ext cx="2023948" cy="1641934"/>
            </a:xfrm>
            <a:prstGeom prst="rect">
              <a:avLst/>
            </a:prstGeom>
          </p:spPr>
          <p:txBody>
            <a:bodyPr anchor="ctr" rtlCol="false" tIns="50800" lIns="50800" bIns="50800" rIns="50800"/>
            <a:lstStyle/>
            <a:p>
              <a:pPr algn="ctr">
                <a:lnSpc>
                  <a:spcPts val="5040"/>
                </a:lnSpc>
                <a:spcBef>
                  <a:spcPct val="0"/>
                </a:spcBef>
              </a:pPr>
            </a:p>
            <a:p>
              <a:pPr algn="ctr">
                <a:lnSpc>
                  <a:spcPts val="5040"/>
                </a:lnSpc>
                <a:spcBef>
                  <a:spcPct val="0"/>
                </a:spcBef>
              </a:pPr>
              <a:r>
                <a:rPr lang="en-US" sz="3600" spc="53">
                  <a:solidFill>
                    <a:srgbClr val="503530"/>
                  </a:solidFill>
                  <a:latin typeface="Squada One"/>
                  <a:ea typeface="Squada One"/>
                  <a:cs typeface="Squada One"/>
                  <a:sym typeface="Squada One"/>
                </a:rPr>
                <a:t>Loop in code:</a:t>
              </a:r>
              <a:r>
                <a:rPr lang="en-US" sz="3600" spc="53">
                  <a:solidFill>
                    <a:srgbClr val="503530"/>
                  </a:solidFill>
                  <a:latin typeface="Squada One"/>
                  <a:ea typeface="Squada One"/>
                  <a:cs typeface="Squada One"/>
                  <a:sym typeface="Squada One"/>
                </a:rPr>
                <a:t> Run the predict and update equations sequentially in a real-time loop for every new sensor reading. </a:t>
              </a:r>
            </a:p>
            <a:p>
              <a:pPr algn="ctr">
                <a:lnSpc>
                  <a:spcPts val="5040"/>
                </a:lnSpc>
                <a:spcBef>
                  <a:spcPct val="0"/>
                </a:spcBef>
              </a:pPr>
            </a:p>
            <a:p>
              <a:pPr algn="ctr">
                <a:lnSpc>
                  <a:spcPts val="5040"/>
                </a:lnSpc>
                <a:spcBef>
                  <a:spcPct val="0"/>
                </a:spcBef>
              </a:pPr>
              <a:r>
                <a:rPr lang="en-US" sz="3600" spc="53">
                  <a:solidFill>
                    <a:srgbClr val="503530"/>
                  </a:solidFill>
                  <a:latin typeface="Squada One"/>
                  <a:ea typeface="Squada One"/>
                  <a:cs typeface="Squada One"/>
                  <a:sym typeface="Squada One"/>
                </a:rPr>
                <a:t>Tune parameters:</a:t>
              </a:r>
              <a:r>
                <a:rPr lang="en-US" sz="3600" spc="53">
                  <a:solidFill>
                    <a:srgbClr val="503530"/>
                  </a:solidFill>
                  <a:latin typeface="Squada One"/>
                  <a:ea typeface="Squada One"/>
                  <a:cs typeface="Squada One"/>
                  <a:sym typeface="Squada One"/>
                </a:rPr>
                <a:t> Adjust Q and R values based on how much you trust your process model versus your physical sensors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1026665"/>
            <a:ext cx="16230600" cy="2153733"/>
            <a:chOff x="0" y="0"/>
            <a:chExt cx="4274726" cy="567238"/>
          </a:xfrm>
        </p:grpSpPr>
        <p:sp>
          <p:nvSpPr>
            <p:cNvPr name="Freeform 4" id="4"/>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F3C2"/>
            </a:solidFill>
            <a:ln w="95250" cap="sq">
              <a:solidFill>
                <a:srgbClr val="FFFFFF"/>
              </a:solidFill>
              <a:prstDash val="solid"/>
              <a:miter/>
            </a:ln>
          </p:spPr>
        </p:sp>
        <p:sp>
          <p:nvSpPr>
            <p:cNvPr name="TextBox 5" id="5"/>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5143500"/>
            <a:ext cx="5135427" cy="4114800"/>
            <a:chOff x="0" y="0"/>
            <a:chExt cx="1352540" cy="1083733"/>
          </a:xfrm>
        </p:grpSpPr>
        <p:sp>
          <p:nvSpPr>
            <p:cNvPr name="Freeform 7" id="7"/>
            <p:cNvSpPr/>
            <p:nvPr/>
          </p:nvSpPr>
          <p:spPr>
            <a:xfrm flipH="false" flipV="false" rot="0">
              <a:off x="0" y="0"/>
              <a:ext cx="1352540" cy="1083733"/>
            </a:xfrm>
            <a:custGeom>
              <a:avLst/>
              <a:gdLst/>
              <a:ahLst/>
              <a:cxnLst/>
              <a:rect r="r" b="b" t="t" l="l"/>
              <a:pathLst>
                <a:path h="1083733" w="1352540">
                  <a:moveTo>
                    <a:pt x="0" y="0"/>
                  </a:moveTo>
                  <a:lnTo>
                    <a:pt x="1352540" y="0"/>
                  </a:lnTo>
                  <a:lnTo>
                    <a:pt x="1352540" y="1083733"/>
                  </a:lnTo>
                  <a:lnTo>
                    <a:pt x="0" y="1083733"/>
                  </a:lnTo>
                  <a:close/>
                </a:path>
              </a:pathLst>
            </a:custGeom>
            <a:solidFill>
              <a:srgbClr val="FFC2C2"/>
            </a:solidFill>
            <a:ln w="95250" cap="sq">
              <a:solidFill>
                <a:srgbClr val="FFFFFF"/>
              </a:solidFill>
              <a:prstDash val="solid"/>
              <a:miter/>
            </a:ln>
          </p:spPr>
        </p:sp>
        <p:sp>
          <p:nvSpPr>
            <p:cNvPr name="TextBox 8" id="8"/>
            <p:cNvSpPr txBox="true"/>
            <p:nvPr/>
          </p:nvSpPr>
          <p:spPr>
            <a:xfrm>
              <a:off x="0" y="-47625"/>
              <a:ext cx="1352540" cy="1131358"/>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grpSp>
        <p:nvGrpSpPr>
          <p:cNvPr name="Group 9" id="9"/>
          <p:cNvGrpSpPr/>
          <p:nvPr/>
        </p:nvGrpSpPr>
        <p:grpSpPr>
          <a:xfrm rot="0">
            <a:off x="1028700" y="3440942"/>
            <a:ext cx="16230600" cy="1442013"/>
            <a:chOff x="0" y="0"/>
            <a:chExt cx="4274726" cy="379789"/>
          </a:xfrm>
        </p:grpSpPr>
        <p:sp>
          <p:nvSpPr>
            <p:cNvPr name="Freeform 10" id="10"/>
            <p:cNvSpPr/>
            <p:nvPr/>
          </p:nvSpPr>
          <p:spPr>
            <a:xfrm flipH="false" flipV="false" rot="0">
              <a:off x="0" y="0"/>
              <a:ext cx="4274726" cy="379789"/>
            </a:xfrm>
            <a:custGeom>
              <a:avLst/>
              <a:gdLst/>
              <a:ahLst/>
              <a:cxnLst/>
              <a:rect r="r" b="b" t="t" l="l"/>
              <a:pathLst>
                <a:path h="379789" w="4274726">
                  <a:moveTo>
                    <a:pt x="0" y="0"/>
                  </a:moveTo>
                  <a:lnTo>
                    <a:pt x="4274726" y="0"/>
                  </a:lnTo>
                  <a:lnTo>
                    <a:pt x="4274726" y="379789"/>
                  </a:lnTo>
                  <a:lnTo>
                    <a:pt x="0" y="379789"/>
                  </a:lnTo>
                  <a:close/>
                </a:path>
              </a:pathLst>
            </a:custGeom>
            <a:solidFill>
              <a:srgbClr val="FFC2C2"/>
            </a:solidFill>
            <a:ln w="95250" cap="sq">
              <a:solidFill>
                <a:srgbClr val="FFFFFF"/>
              </a:solidFill>
              <a:prstDash val="solid"/>
              <a:miter/>
            </a:ln>
          </p:spPr>
        </p:sp>
        <p:sp>
          <p:nvSpPr>
            <p:cNvPr name="TextBox 11" id="11"/>
            <p:cNvSpPr txBox="true"/>
            <p:nvPr/>
          </p:nvSpPr>
          <p:spPr>
            <a:xfrm>
              <a:off x="0" y="-47625"/>
              <a:ext cx="4274726" cy="42741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123873" y="5140130"/>
            <a:ext cx="5135427" cy="4114800"/>
            <a:chOff x="0" y="0"/>
            <a:chExt cx="1352540" cy="1083733"/>
          </a:xfrm>
        </p:grpSpPr>
        <p:sp>
          <p:nvSpPr>
            <p:cNvPr name="Freeform 13" id="13"/>
            <p:cNvSpPr/>
            <p:nvPr/>
          </p:nvSpPr>
          <p:spPr>
            <a:xfrm flipH="false" flipV="false" rot="0">
              <a:off x="0" y="0"/>
              <a:ext cx="1352540" cy="1083733"/>
            </a:xfrm>
            <a:custGeom>
              <a:avLst/>
              <a:gdLst/>
              <a:ahLst/>
              <a:cxnLst/>
              <a:rect r="r" b="b" t="t" l="l"/>
              <a:pathLst>
                <a:path h="1083733" w="1352540">
                  <a:moveTo>
                    <a:pt x="0" y="0"/>
                  </a:moveTo>
                  <a:lnTo>
                    <a:pt x="1352540" y="0"/>
                  </a:lnTo>
                  <a:lnTo>
                    <a:pt x="1352540" y="1083733"/>
                  </a:lnTo>
                  <a:lnTo>
                    <a:pt x="0" y="1083733"/>
                  </a:lnTo>
                  <a:close/>
                </a:path>
              </a:pathLst>
            </a:custGeom>
            <a:solidFill>
              <a:srgbClr val="FFC2C2"/>
            </a:solidFill>
            <a:ln w="95250" cap="sq">
              <a:solidFill>
                <a:srgbClr val="FFFFFF"/>
              </a:solidFill>
              <a:prstDash val="solid"/>
              <a:miter/>
            </a:ln>
          </p:spPr>
        </p:sp>
        <p:sp>
          <p:nvSpPr>
            <p:cNvPr name="TextBox 14" id="14"/>
            <p:cNvSpPr txBox="true"/>
            <p:nvPr/>
          </p:nvSpPr>
          <p:spPr>
            <a:xfrm>
              <a:off x="0" y="-47625"/>
              <a:ext cx="1352540" cy="113135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576287" y="5143500"/>
            <a:ext cx="5135427" cy="4114800"/>
            <a:chOff x="0" y="0"/>
            <a:chExt cx="1352540" cy="1083733"/>
          </a:xfrm>
        </p:grpSpPr>
        <p:sp>
          <p:nvSpPr>
            <p:cNvPr name="Freeform 16" id="16"/>
            <p:cNvSpPr/>
            <p:nvPr/>
          </p:nvSpPr>
          <p:spPr>
            <a:xfrm flipH="false" flipV="false" rot="0">
              <a:off x="0" y="0"/>
              <a:ext cx="1352540" cy="1083733"/>
            </a:xfrm>
            <a:custGeom>
              <a:avLst/>
              <a:gdLst/>
              <a:ahLst/>
              <a:cxnLst/>
              <a:rect r="r" b="b" t="t" l="l"/>
              <a:pathLst>
                <a:path h="1083733" w="1352540">
                  <a:moveTo>
                    <a:pt x="0" y="0"/>
                  </a:moveTo>
                  <a:lnTo>
                    <a:pt x="1352540" y="0"/>
                  </a:lnTo>
                  <a:lnTo>
                    <a:pt x="1352540" y="1083733"/>
                  </a:lnTo>
                  <a:lnTo>
                    <a:pt x="0" y="1083733"/>
                  </a:lnTo>
                  <a:close/>
                </a:path>
              </a:pathLst>
            </a:custGeom>
            <a:solidFill>
              <a:srgbClr val="FFC2C2"/>
            </a:solidFill>
            <a:ln w="95250" cap="sq">
              <a:solidFill>
                <a:srgbClr val="FFFFFF"/>
              </a:solidFill>
              <a:prstDash val="solid"/>
              <a:miter/>
            </a:ln>
          </p:spPr>
        </p:sp>
        <p:sp>
          <p:nvSpPr>
            <p:cNvPr name="TextBox 17" id="17"/>
            <p:cNvSpPr txBox="true"/>
            <p:nvPr/>
          </p:nvSpPr>
          <p:spPr>
            <a:xfrm>
              <a:off x="0" y="-47625"/>
              <a:ext cx="1352540" cy="113135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303088" y="4846591"/>
            <a:ext cx="6494830" cy="398350"/>
          </a:xfrm>
          <a:custGeom>
            <a:avLst/>
            <a:gdLst/>
            <a:ahLst/>
            <a:cxnLst/>
            <a:rect r="r" b="b" t="t" l="l"/>
            <a:pathLst>
              <a:path h="398350" w="6494830">
                <a:moveTo>
                  <a:pt x="0" y="0"/>
                </a:moveTo>
                <a:lnTo>
                  <a:pt x="6494830" y="0"/>
                </a:lnTo>
                <a:lnTo>
                  <a:pt x="6494830" y="398349"/>
                </a:lnTo>
                <a:lnTo>
                  <a:pt x="0" y="398349"/>
                </a:lnTo>
                <a:lnTo>
                  <a:pt x="0" y="0"/>
                </a:lnTo>
                <a:close/>
              </a:path>
            </a:pathLst>
          </a:custGeom>
          <a:blipFill>
            <a:blip r:embed="rId3"/>
            <a:stretch>
              <a:fillRect l="0" t="0" r="0" b="0"/>
            </a:stretch>
          </a:blipFill>
        </p:spPr>
      </p:sp>
      <p:sp>
        <p:nvSpPr>
          <p:cNvPr name="Freeform 19" id="19"/>
          <p:cNvSpPr/>
          <p:nvPr/>
        </p:nvSpPr>
        <p:spPr>
          <a:xfrm flipH="false" flipV="false" rot="0">
            <a:off x="1286634" y="6408985"/>
            <a:ext cx="4692700" cy="481303"/>
          </a:xfrm>
          <a:custGeom>
            <a:avLst/>
            <a:gdLst/>
            <a:ahLst/>
            <a:cxnLst/>
            <a:rect r="r" b="b" t="t" l="l"/>
            <a:pathLst>
              <a:path h="481303" w="4692700">
                <a:moveTo>
                  <a:pt x="0" y="0"/>
                </a:moveTo>
                <a:lnTo>
                  <a:pt x="4692699" y="0"/>
                </a:lnTo>
                <a:lnTo>
                  <a:pt x="4692699" y="481302"/>
                </a:lnTo>
                <a:lnTo>
                  <a:pt x="0" y="481302"/>
                </a:lnTo>
                <a:lnTo>
                  <a:pt x="0" y="0"/>
                </a:lnTo>
                <a:close/>
              </a:path>
            </a:pathLst>
          </a:custGeom>
          <a:blipFill>
            <a:blip r:embed="rId4"/>
            <a:stretch>
              <a:fillRect l="0" t="0" r="0" b="0"/>
            </a:stretch>
          </a:blipFill>
        </p:spPr>
      </p:sp>
      <p:sp>
        <p:nvSpPr>
          <p:cNvPr name="Freeform 20" id="20"/>
          <p:cNvSpPr/>
          <p:nvPr/>
        </p:nvSpPr>
        <p:spPr>
          <a:xfrm flipH="false" flipV="false" rot="0">
            <a:off x="1286634" y="7529168"/>
            <a:ext cx="3016454" cy="511263"/>
          </a:xfrm>
          <a:custGeom>
            <a:avLst/>
            <a:gdLst/>
            <a:ahLst/>
            <a:cxnLst/>
            <a:rect r="r" b="b" t="t" l="l"/>
            <a:pathLst>
              <a:path h="511263" w="3016454">
                <a:moveTo>
                  <a:pt x="0" y="0"/>
                </a:moveTo>
                <a:lnTo>
                  <a:pt x="3016454" y="0"/>
                </a:lnTo>
                <a:lnTo>
                  <a:pt x="3016454" y="511263"/>
                </a:lnTo>
                <a:lnTo>
                  <a:pt x="0" y="511263"/>
                </a:lnTo>
                <a:lnTo>
                  <a:pt x="0" y="0"/>
                </a:lnTo>
                <a:close/>
              </a:path>
            </a:pathLst>
          </a:custGeom>
          <a:blipFill>
            <a:blip r:embed="rId5"/>
            <a:stretch>
              <a:fillRect l="0" t="0" r="0" b="0"/>
            </a:stretch>
          </a:blipFill>
        </p:spPr>
      </p:sp>
      <p:sp>
        <p:nvSpPr>
          <p:cNvPr name="Freeform 21" id="21"/>
          <p:cNvSpPr/>
          <p:nvPr/>
        </p:nvSpPr>
        <p:spPr>
          <a:xfrm flipH="false" flipV="false" rot="0">
            <a:off x="6837966" y="5930740"/>
            <a:ext cx="4612069" cy="567260"/>
          </a:xfrm>
          <a:custGeom>
            <a:avLst/>
            <a:gdLst/>
            <a:ahLst/>
            <a:cxnLst/>
            <a:rect r="r" b="b" t="t" l="l"/>
            <a:pathLst>
              <a:path h="567260" w="4612069">
                <a:moveTo>
                  <a:pt x="0" y="0"/>
                </a:moveTo>
                <a:lnTo>
                  <a:pt x="4612068" y="0"/>
                </a:lnTo>
                <a:lnTo>
                  <a:pt x="4612068" y="567260"/>
                </a:lnTo>
                <a:lnTo>
                  <a:pt x="0" y="567260"/>
                </a:lnTo>
                <a:lnTo>
                  <a:pt x="0" y="0"/>
                </a:lnTo>
                <a:close/>
              </a:path>
            </a:pathLst>
          </a:custGeom>
          <a:blipFill>
            <a:blip r:embed="rId6"/>
            <a:stretch>
              <a:fillRect l="0" t="0" r="0" b="0"/>
            </a:stretch>
          </a:blipFill>
        </p:spPr>
      </p:sp>
      <p:sp>
        <p:nvSpPr>
          <p:cNvPr name="Freeform 22" id="22"/>
          <p:cNvSpPr/>
          <p:nvPr/>
        </p:nvSpPr>
        <p:spPr>
          <a:xfrm flipH="false" flipV="false" rot="0">
            <a:off x="6822864" y="6945268"/>
            <a:ext cx="4642272" cy="511263"/>
          </a:xfrm>
          <a:custGeom>
            <a:avLst/>
            <a:gdLst/>
            <a:ahLst/>
            <a:cxnLst/>
            <a:rect r="r" b="b" t="t" l="l"/>
            <a:pathLst>
              <a:path h="511263" w="4642272">
                <a:moveTo>
                  <a:pt x="0" y="0"/>
                </a:moveTo>
                <a:lnTo>
                  <a:pt x="4642272" y="0"/>
                </a:lnTo>
                <a:lnTo>
                  <a:pt x="4642272" y="511264"/>
                </a:lnTo>
                <a:lnTo>
                  <a:pt x="0" y="511264"/>
                </a:lnTo>
                <a:lnTo>
                  <a:pt x="0" y="0"/>
                </a:lnTo>
                <a:close/>
              </a:path>
            </a:pathLst>
          </a:custGeom>
          <a:blipFill>
            <a:blip r:embed="rId7"/>
            <a:stretch>
              <a:fillRect l="0" t="0" r="0" b="0"/>
            </a:stretch>
          </a:blipFill>
        </p:spPr>
      </p:sp>
      <p:sp>
        <p:nvSpPr>
          <p:cNvPr name="Freeform 23" id="23"/>
          <p:cNvSpPr/>
          <p:nvPr/>
        </p:nvSpPr>
        <p:spPr>
          <a:xfrm flipH="false" flipV="false" rot="0">
            <a:off x="7216483" y="7902468"/>
            <a:ext cx="3855035" cy="607274"/>
          </a:xfrm>
          <a:custGeom>
            <a:avLst/>
            <a:gdLst/>
            <a:ahLst/>
            <a:cxnLst/>
            <a:rect r="r" b="b" t="t" l="l"/>
            <a:pathLst>
              <a:path h="607274" w="3855035">
                <a:moveTo>
                  <a:pt x="0" y="0"/>
                </a:moveTo>
                <a:lnTo>
                  <a:pt x="3855034" y="0"/>
                </a:lnTo>
                <a:lnTo>
                  <a:pt x="3855034" y="607274"/>
                </a:lnTo>
                <a:lnTo>
                  <a:pt x="0" y="607274"/>
                </a:lnTo>
                <a:lnTo>
                  <a:pt x="0" y="0"/>
                </a:lnTo>
                <a:close/>
              </a:path>
            </a:pathLst>
          </a:custGeom>
          <a:blipFill>
            <a:blip r:embed="rId8"/>
            <a:stretch>
              <a:fillRect l="0" t="-1051" r="0" b="-1051"/>
            </a:stretch>
          </a:blipFill>
        </p:spPr>
      </p:sp>
      <p:sp>
        <p:nvSpPr>
          <p:cNvPr name="Freeform 24" id="24"/>
          <p:cNvSpPr/>
          <p:nvPr/>
        </p:nvSpPr>
        <p:spPr>
          <a:xfrm flipH="false" flipV="false" rot="0">
            <a:off x="13323899" y="5851524"/>
            <a:ext cx="3344762" cy="1114921"/>
          </a:xfrm>
          <a:custGeom>
            <a:avLst/>
            <a:gdLst/>
            <a:ahLst/>
            <a:cxnLst/>
            <a:rect r="r" b="b" t="t" l="l"/>
            <a:pathLst>
              <a:path h="1114921" w="3344762">
                <a:moveTo>
                  <a:pt x="0" y="0"/>
                </a:moveTo>
                <a:lnTo>
                  <a:pt x="3344763" y="0"/>
                </a:lnTo>
                <a:lnTo>
                  <a:pt x="3344763" y="1114921"/>
                </a:lnTo>
                <a:lnTo>
                  <a:pt x="0" y="1114921"/>
                </a:lnTo>
                <a:lnTo>
                  <a:pt x="0" y="0"/>
                </a:lnTo>
                <a:close/>
              </a:path>
            </a:pathLst>
          </a:custGeom>
          <a:blipFill>
            <a:blip r:embed="rId9"/>
            <a:stretch>
              <a:fillRect l="0" t="0" r="0" b="0"/>
            </a:stretch>
          </a:blipFill>
        </p:spPr>
      </p:sp>
      <p:sp>
        <p:nvSpPr>
          <p:cNvPr name="Freeform 25" id="25"/>
          <p:cNvSpPr/>
          <p:nvPr/>
        </p:nvSpPr>
        <p:spPr>
          <a:xfrm flipH="false" flipV="false" rot="0">
            <a:off x="13323899" y="7347813"/>
            <a:ext cx="2735375" cy="1161929"/>
          </a:xfrm>
          <a:custGeom>
            <a:avLst/>
            <a:gdLst/>
            <a:ahLst/>
            <a:cxnLst/>
            <a:rect r="r" b="b" t="t" l="l"/>
            <a:pathLst>
              <a:path h="1161929" w="2735375">
                <a:moveTo>
                  <a:pt x="0" y="0"/>
                </a:moveTo>
                <a:lnTo>
                  <a:pt x="2735375" y="0"/>
                </a:lnTo>
                <a:lnTo>
                  <a:pt x="2735375" y="1161929"/>
                </a:lnTo>
                <a:lnTo>
                  <a:pt x="0" y="1161929"/>
                </a:lnTo>
                <a:lnTo>
                  <a:pt x="0" y="0"/>
                </a:lnTo>
                <a:close/>
              </a:path>
            </a:pathLst>
          </a:custGeom>
          <a:blipFill>
            <a:blip r:embed="rId10"/>
            <a:stretch>
              <a:fillRect l="0" t="0" r="0" b="0"/>
            </a:stretch>
          </a:blipFill>
        </p:spPr>
      </p:sp>
      <p:sp>
        <p:nvSpPr>
          <p:cNvPr name="TextBox 26" id="26"/>
          <p:cNvSpPr txBox="true"/>
          <p:nvPr/>
        </p:nvSpPr>
        <p:spPr>
          <a:xfrm rot="0">
            <a:off x="1286634" y="3493294"/>
            <a:ext cx="15858744" cy="1261110"/>
          </a:xfrm>
          <a:prstGeom prst="rect">
            <a:avLst/>
          </a:prstGeom>
        </p:spPr>
        <p:txBody>
          <a:bodyPr anchor="t" rtlCol="false" tIns="0" lIns="0" bIns="0" rIns="0">
            <a:spAutoFit/>
          </a:bodyPr>
          <a:lstStyle/>
          <a:p>
            <a:pPr algn="ctr">
              <a:lnSpc>
                <a:spcPts val="5040"/>
              </a:lnSpc>
            </a:pPr>
            <a:r>
              <a:rPr lang="en-US" sz="3600">
                <a:solidFill>
                  <a:srgbClr val="503530"/>
                </a:solidFill>
                <a:latin typeface="Squada One"/>
                <a:ea typeface="Squada One"/>
                <a:cs typeface="Squada One"/>
                <a:sym typeface="Squada One"/>
              </a:rPr>
              <a:t>the </a:t>
            </a:r>
            <a:r>
              <a:rPr lang="en-US" sz="3600">
                <a:solidFill>
                  <a:srgbClr val="503530"/>
                </a:solidFill>
                <a:latin typeface="Squada One"/>
                <a:ea typeface="Squada One"/>
                <a:cs typeface="Squada One"/>
                <a:sym typeface="Squada One"/>
                <a:hlinkClick r:id="rId11" tooltip="https://en.wikipedia.org/wiki/Nonlinear"/>
              </a:rPr>
              <a:t>nonlinear</a:t>
            </a:r>
            <a:r>
              <a:rPr lang="en-US" sz="3600">
                <a:solidFill>
                  <a:srgbClr val="503530"/>
                </a:solidFill>
                <a:latin typeface="Squada One"/>
                <a:ea typeface="Squada One"/>
                <a:cs typeface="Squada One"/>
                <a:sym typeface="Squada One"/>
              </a:rPr>
              <a:t> version of the </a:t>
            </a:r>
            <a:r>
              <a:rPr lang="en-US" sz="3600">
                <a:solidFill>
                  <a:srgbClr val="503530"/>
                </a:solidFill>
                <a:latin typeface="Squada One"/>
                <a:ea typeface="Squada One"/>
                <a:cs typeface="Squada One"/>
                <a:sym typeface="Squada One"/>
                <a:hlinkClick r:id="rId12" tooltip="https://en.wikipedia.org/wiki/Kalman_filter"/>
              </a:rPr>
              <a:t>Kal</a:t>
            </a:r>
            <a:r>
              <a:rPr lang="en-US" sz="3600">
                <a:solidFill>
                  <a:srgbClr val="503530"/>
                </a:solidFill>
                <a:latin typeface="Squada One"/>
                <a:ea typeface="Squada One"/>
                <a:cs typeface="Squada One"/>
                <a:sym typeface="Squada One"/>
                <a:hlinkClick r:id="rId13" tooltip="https://en.wikipedia.org/wiki/Kalman_filter"/>
              </a:rPr>
              <a:t>man filter</a:t>
            </a:r>
            <a:r>
              <a:rPr lang="en-US" sz="3600">
                <a:solidFill>
                  <a:srgbClr val="503530"/>
                </a:solidFill>
                <a:latin typeface="Squada One"/>
                <a:ea typeface="Squada One"/>
                <a:cs typeface="Squada One"/>
                <a:sym typeface="Squada One"/>
              </a:rPr>
              <a:t> which linearizes about an estimate of the current </a:t>
            </a:r>
            <a:r>
              <a:rPr lang="en-US" sz="3600">
                <a:solidFill>
                  <a:srgbClr val="503530"/>
                </a:solidFill>
                <a:latin typeface="Squada One"/>
                <a:ea typeface="Squada One"/>
                <a:cs typeface="Squada One"/>
                <a:sym typeface="Squada One"/>
                <a:hlinkClick r:id="rId14" tooltip="https://en.wikipedia.org/wiki/Mean"/>
              </a:rPr>
              <a:t>mean</a:t>
            </a:r>
            <a:r>
              <a:rPr lang="en-US" sz="3600">
                <a:solidFill>
                  <a:srgbClr val="503530"/>
                </a:solidFill>
                <a:latin typeface="Squada One"/>
                <a:ea typeface="Squada One"/>
                <a:cs typeface="Squada One"/>
                <a:sym typeface="Squada One"/>
              </a:rPr>
              <a:t> and </a:t>
            </a:r>
            <a:r>
              <a:rPr lang="en-US" sz="3600">
                <a:solidFill>
                  <a:srgbClr val="503530"/>
                </a:solidFill>
                <a:latin typeface="Squada One"/>
                <a:ea typeface="Squada One"/>
                <a:cs typeface="Squada One"/>
                <a:sym typeface="Squada One"/>
                <a:hlinkClick r:id="rId15" tooltip="https://en.wikipedia.org/wiki/Covariance"/>
              </a:rPr>
              <a:t>covariance</a:t>
            </a:r>
          </a:p>
        </p:txBody>
      </p:sp>
      <p:sp>
        <p:nvSpPr>
          <p:cNvPr name="TextBox 27" id="27"/>
          <p:cNvSpPr txBox="true"/>
          <p:nvPr/>
        </p:nvSpPr>
        <p:spPr>
          <a:xfrm rot="0">
            <a:off x="1793374" y="1279303"/>
            <a:ext cx="15161447" cy="1477006"/>
          </a:xfrm>
          <a:prstGeom prst="rect">
            <a:avLst/>
          </a:prstGeom>
        </p:spPr>
        <p:txBody>
          <a:bodyPr anchor="t" rtlCol="false" tIns="0" lIns="0" bIns="0" rIns="0">
            <a:spAutoFit/>
          </a:bodyPr>
          <a:lstStyle/>
          <a:p>
            <a:pPr algn="ctr">
              <a:lnSpc>
                <a:spcPts val="12040"/>
              </a:lnSpc>
            </a:pPr>
            <a:r>
              <a:rPr lang="en-US" sz="8600" spc="172">
                <a:solidFill>
                  <a:srgbClr val="503530"/>
                </a:solidFill>
                <a:latin typeface="Squada One"/>
                <a:ea typeface="Squada One"/>
                <a:cs typeface="Squada One"/>
                <a:sym typeface="Squada One"/>
              </a:rPr>
              <a:t>EXTENDED K</a:t>
            </a:r>
            <a:r>
              <a:rPr lang="en-US" sz="8600" spc="172">
                <a:solidFill>
                  <a:srgbClr val="503530"/>
                </a:solidFill>
                <a:latin typeface="Squada One"/>
                <a:ea typeface="Squada One"/>
                <a:cs typeface="Squada One"/>
                <a:sym typeface="Squada One"/>
              </a:rPr>
              <a:t>ALMAN FILTER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1028700" y="4066634"/>
            <a:ext cx="7685780" cy="2153733"/>
            <a:chOff x="0" y="0"/>
            <a:chExt cx="2024238" cy="567238"/>
          </a:xfrm>
        </p:grpSpPr>
        <p:sp>
          <p:nvSpPr>
            <p:cNvPr name="Freeform 4" id="4"/>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D9C2"/>
            </a:solidFill>
            <a:ln w="95250" cap="sq">
              <a:solidFill>
                <a:srgbClr val="FFFFFF"/>
              </a:solidFill>
              <a:prstDash val="solid"/>
              <a:miter/>
            </a:ln>
          </p:spPr>
        </p:sp>
        <p:sp>
          <p:nvSpPr>
            <p:cNvPr name="TextBox 5" id="5"/>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573520" y="1028700"/>
            <a:ext cx="7685780" cy="2153733"/>
            <a:chOff x="0" y="0"/>
            <a:chExt cx="2024238" cy="567238"/>
          </a:xfrm>
        </p:grpSpPr>
        <p:sp>
          <p:nvSpPr>
            <p:cNvPr name="Freeform 7" id="7"/>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8" id="8"/>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573520" y="4066634"/>
            <a:ext cx="7685780" cy="2153733"/>
            <a:chOff x="0" y="0"/>
            <a:chExt cx="2024238" cy="567238"/>
          </a:xfrm>
        </p:grpSpPr>
        <p:sp>
          <p:nvSpPr>
            <p:cNvPr name="Freeform 10" id="10"/>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11" id="11"/>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9573520" y="7104567"/>
            <a:ext cx="7685780" cy="2153733"/>
            <a:chOff x="0" y="0"/>
            <a:chExt cx="2024238" cy="567238"/>
          </a:xfrm>
        </p:grpSpPr>
        <p:sp>
          <p:nvSpPr>
            <p:cNvPr name="Freeform 13" id="13"/>
            <p:cNvSpPr/>
            <p:nvPr/>
          </p:nvSpPr>
          <p:spPr>
            <a:xfrm flipH="false" flipV="false" rot="0">
              <a:off x="0" y="0"/>
              <a:ext cx="2024238" cy="567238"/>
            </a:xfrm>
            <a:custGeom>
              <a:avLst/>
              <a:gdLst/>
              <a:ahLst/>
              <a:cxnLst/>
              <a:rect r="r" b="b" t="t" l="l"/>
              <a:pathLst>
                <a:path h="567238" w="2024238">
                  <a:moveTo>
                    <a:pt x="0" y="0"/>
                  </a:moveTo>
                  <a:lnTo>
                    <a:pt x="2024238" y="0"/>
                  </a:lnTo>
                  <a:lnTo>
                    <a:pt x="2024238" y="567238"/>
                  </a:lnTo>
                  <a:lnTo>
                    <a:pt x="0" y="567238"/>
                  </a:lnTo>
                  <a:close/>
                </a:path>
              </a:pathLst>
            </a:custGeom>
            <a:solidFill>
              <a:srgbClr val="FFC2C2"/>
            </a:solidFill>
            <a:ln w="95250" cap="sq">
              <a:solidFill>
                <a:srgbClr val="FFFFFF"/>
              </a:solidFill>
              <a:prstDash val="solid"/>
              <a:miter/>
            </a:ln>
          </p:spPr>
        </p:sp>
        <p:sp>
          <p:nvSpPr>
            <p:cNvPr name="TextBox 14" id="14"/>
            <p:cNvSpPr txBox="true"/>
            <p:nvPr/>
          </p:nvSpPr>
          <p:spPr>
            <a:xfrm>
              <a:off x="0" y="-47625"/>
              <a:ext cx="2024238" cy="614863"/>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5976971" y="1535355"/>
            <a:ext cx="3167029" cy="2314810"/>
          </a:xfrm>
          <a:custGeom>
            <a:avLst/>
            <a:gdLst/>
            <a:ahLst/>
            <a:cxnLst/>
            <a:rect r="r" b="b" t="t" l="l"/>
            <a:pathLst>
              <a:path h="2314810" w="3167029">
                <a:moveTo>
                  <a:pt x="0" y="0"/>
                </a:moveTo>
                <a:lnTo>
                  <a:pt x="3167029" y="0"/>
                </a:lnTo>
                <a:lnTo>
                  <a:pt x="3167029" y="2314810"/>
                </a:lnTo>
                <a:lnTo>
                  <a:pt x="0" y="23148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727976" y="4046855"/>
            <a:ext cx="6287228" cy="2069466"/>
          </a:xfrm>
          <a:prstGeom prst="rect">
            <a:avLst/>
          </a:prstGeom>
        </p:spPr>
        <p:txBody>
          <a:bodyPr anchor="t" rtlCol="false" tIns="0" lIns="0" bIns="0" rIns="0">
            <a:spAutoFit/>
          </a:bodyPr>
          <a:lstStyle/>
          <a:p>
            <a:pPr algn="ctr">
              <a:lnSpc>
                <a:spcPts val="8259"/>
              </a:lnSpc>
            </a:pPr>
            <a:r>
              <a:rPr lang="en-US" sz="5899" spc="88">
                <a:solidFill>
                  <a:srgbClr val="000000"/>
                </a:solidFill>
                <a:latin typeface="Squada One"/>
                <a:ea typeface="Squada One"/>
                <a:cs typeface="Squada One"/>
                <a:sym typeface="Squada One"/>
              </a:rPr>
              <a:t>usage examples of kalman filter</a:t>
            </a:r>
          </a:p>
        </p:txBody>
      </p:sp>
      <p:sp>
        <p:nvSpPr>
          <p:cNvPr name="TextBox 17" id="17"/>
          <p:cNvSpPr txBox="true"/>
          <p:nvPr/>
        </p:nvSpPr>
        <p:spPr>
          <a:xfrm rot="0">
            <a:off x="9573520" y="4731385"/>
            <a:ext cx="7685780" cy="1500505"/>
          </a:xfrm>
          <a:prstGeom prst="rect">
            <a:avLst/>
          </a:prstGeom>
        </p:spPr>
        <p:txBody>
          <a:bodyPr anchor="t" rtlCol="false" tIns="0" lIns="0" bIns="0" rIns="0">
            <a:spAutoFit/>
          </a:bodyPr>
          <a:lstStyle/>
          <a:p>
            <a:pPr algn="ctr">
              <a:lnSpc>
                <a:spcPts val="6019"/>
              </a:lnSpc>
            </a:pPr>
            <a:r>
              <a:rPr lang="en-US" sz="4299" spc="85">
                <a:solidFill>
                  <a:srgbClr val="503530"/>
                </a:solidFill>
                <a:latin typeface="Squada One"/>
                <a:ea typeface="Squada One"/>
                <a:cs typeface="Squada One"/>
                <a:sym typeface="Squada One"/>
              </a:rPr>
              <a:t>noise filtering</a:t>
            </a:r>
          </a:p>
          <a:p>
            <a:pPr algn="ctr">
              <a:lnSpc>
                <a:spcPts val="6019"/>
              </a:lnSpc>
            </a:pPr>
          </a:p>
        </p:txBody>
      </p:sp>
      <p:sp>
        <p:nvSpPr>
          <p:cNvPr name="TextBox 18" id="18"/>
          <p:cNvSpPr txBox="true"/>
          <p:nvPr/>
        </p:nvSpPr>
        <p:spPr>
          <a:xfrm rot="0">
            <a:off x="9573520" y="7391941"/>
            <a:ext cx="7685780" cy="1500505"/>
          </a:xfrm>
          <a:prstGeom prst="rect">
            <a:avLst/>
          </a:prstGeom>
        </p:spPr>
        <p:txBody>
          <a:bodyPr anchor="t" rtlCol="false" tIns="0" lIns="0" bIns="0" rIns="0">
            <a:spAutoFit/>
          </a:bodyPr>
          <a:lstStyle/>
          <a:p>
            <a:pPr algn="ctr">
              <a:lnSpc>
                <a:spcPts val="6019"/>
              </a:lnSpc>
            </a:pPr>
            <a:r>
              <a:rPr lang="en-US" sz="4299" spc="85">
                <a:solidFill>
                  <a:srgbClr val="503530"/>
                </a:solidFill>
                <a:latin typeface="Squada One"/>
                <a:ea typeface="Squada One"/>
                <a:cs typeface="Squada One"/>
                <a:sym typeface="Squada One"/>
              </a:rPr>
              <a:t>tracking phase &amp; frwquncy of a s</a:t>
            </a:r>
            <a:r>
              <a:rPr lang="en-US" sz="4299" spc="85">
                <a:solidFill>
                  <a:srgbClr val="503530"/>
                </a:solidFill>
                <a:latin typeface="Squada One"/>
                <a:ea typeface="Squada One"/>
                <a:cs typeface="Squada One"/>
                <a:sym typeface="Squada One"/>
              </a:rPr>
              <a:t>i</a:t>
            </a:r>
            <a:r>
              <a:rPr lang="en-US" sz="4299" spc="85">
                <a:solidFill>
                  <a:srgbClr val="503530"/>
                </a:solidFill>
                <a:latin typeface="Squada One"/>
                <a:ea typeface="Squada One"/>
                <a:cs typeface="Squada One"/>
                <a:sym typeface="Squada One"/>
              </a:rPr>
              <a:t>gnal</a:t>
            </a:r>
          </a:p>
        </p:txBody>
      </p:sp>
      <p:sp>
        <p:nvSpPr>
          <p:cNvPr name="TextBox 19" id="19"/>
          <p:cNvSpPr txBox="true"/>
          <p:nvPr/>
        </p:nvSpPr>
        <p:spPr>
          <a:xfrm rot="0">
            <a:off x="9573520" y="1672811"/>
            <a:ext cx="7406069" cy="1527048"/>
          </a:xfrm>
          <a:prstGeom prst="rect">
            <a:avLst/>
          </a:prstGeom>
        </p:spPr>
        <p:txBody>
          <a:bodyPr anchor="t" rtlCol="false" tIns="0" lIns="0" bIns="0" rIns="0">
            <a:spAutoFit/>
          </a:bodyPr>
          <a:lstStyle/>
          <a:p>
            <a:pPr algn="ctr">
              <a:lnSpc>
                <a:spcPts val="6132"/>
              </a:lnSpc>
            </a:pPr>
            <a:r>
              <a:rPr lang="en-US" sz="4380" spc="87">
                <a:solidFill>
                  <a:srgbClr val="503530"/>
                </a:solidFill>
                <a:latin typeface="Squada One"/>
                <a:ea typeface="Squada One"/>
                <a:cs typeface="Squada One"/>
                <a:sym typeface="Squada One"/>
              </a:rPr>
              <a:t>channel estimation</a:t>
            </a:r>
          </a:p>
          <a:p>
            <a:pPr algn="ctr">
              <a:lnSpc>
                <a:spcPts val="6132"/>
              </a:lnSpc>
            </a:pPr>
          </a:p>
        </p:txBody>
      </p:sp>
      <p:sp>
        <p:nvSpPr>
          <p:cNvPr name="Freeform 20" id="20"/>
          <p:cNvSpPr/>
          <p:nvPr/>
        </p:nvSpPr>
        <p:spPr>
          <a:xfrm flipH="false" flipV="true" rot="0">
            <a:off x="5976971" y="6577636"/>
            <a:ext cx="3167029" cy="2314810"/>
          </a:xfrm>
          <a:custGeom>
            <a:avLst/>
            <a:gdLst/>
            <a:ahLst/>
            <a:cxnLst/>
            <a:rect r="r" b="b" t="t" l="l"/>
            <a:pathLst>
              <a:path h="2314810" w="3167029">
                <a:moveTo>
                  <a:pt x="0" y="2314810"/>
                </a:moveTo>
                <a:lnTo>
                  <a:pt x="3167029" y="2314810"/>
                </a:lnTo>
                <a:lnTo>
                  <a:pt x="3167029" y="0"/>
                </a:lnTo>
                <a:lnTo>
                  <a:pt x="0" y="0"/>
                </a:lnTo>
                <a:lnTo>
                  <a:pt x="0" y="231481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D9C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204" r="-191" b="-8648"/>
            </a:stretch>
          </a:blipFill>
        </p:spPr>
      </p:sp>
      <p:grpSp>
        <p:nvGrpSpPr>
          <p:cNvPr name="Group 3" id="3"/>
          <p:cNvGrpSpPr/>
          <p:nvPr/>
        </p:nvGrpSpPr>
        <p:grpSpPr>
          <a:xfrm rot="0">
            <a:off x="2862356" y="4841802"/>
            <a:ext cx="14396944" cy="1308294"/>
            <a:chOff x="0" y="0"/>
            <a:chExt cx="3791788" cy="344571"/>
          </a:xfrm>
        </p:grpSpPr>
        <p:sp>
          <p:nvSpPr>
            <p:cNvPr name="Freeform 4" id="4"/>
            <p:cNvSpPr/>
            <p:nvPr/>
          </p:nvSpPr>
          <p:spPr>
            <a:xfrm flipH="false" flipV="false" rot="0">
              <a:off x="0" y="0"/>
              <a:ext cx="3791788" cy="344571"/>
            </a:xfrm>
            <a:custGeom>
              <a:avLst/>
              <a:gdLst/>
              <a:ahLst/>
              <a:cxnLst/>
              <a:rect r="r" b="b" t="t" l="l"/>
              <a:pathLst>
                <a:path h="344571" w="3791788">
                  <a:moveTo>
                    <a:pt x="0" y="0"/>
                  </a:moveTo>
                  <a:lnTo>
                    <a:pt x="3791788" y="0"/>
                  </a:lnTo>
                  <a:lnTo>
                    <a:pt x="3791788" y="344571"/>
                  </a:lnTo>
                  <a:lnTo>
                    <a:pt x="0" y="344571"/>
                  </a:lnTo>
                  <a:close/>
                </a:path>
              </a:pathLst>
            </a:custGeom>
            <a:solidFill>
              <a:srgbClr val="FFC2C2"/>
            </a:solidFill>
            <a:ln w="95250" cap="sq">
              <a:solidFill>
                <a:srgbClr val="FFFFFF"/>
              </a:solidFill>
              <a:prstDash val="solid"/>
              <a:miter/>
            </a:ln>
          </p:spPr>
        </p:sp>
        <p:sp>
          <p:nvSpPr>
            <p:cNvPr name="TextBox 5" id="5"/>
            <p:cNvSpPr txBox="true"/>
            <p:nvPr/>
          </p:nvSpPr>
          <p:spPr>
            <a:xfrm>
              <a:off x="0" y="-47625"/>
              <a:ext cx="3791788" cy="39219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1026665"/>
            <a:ext cx="16230600" cy="2153733"/>
            <a:chOff x="0" y="0"/>
            <a:chExt cx="4274726" cy="567238"/>
          </a:xfrm>
        </p:grpSpPr>
        <p:sp>
          <p:nvSpPr>
            <p:cNvPr name="Freeform 7" id="7"/>
            <p:cNvSpPr/>
            <p:nvPr/>
          </p:nvSpPr>
          <p:spPr>
            <a:xfrm flipH="false" flipV="false" rot="0">
              <a:off x="0" y="0"/>
              <a:ext cx="4274726" cy="567238"/>
            </a:xfrm>
            <a:custGeom>
              <a:avLst/>
              <a:gdLst/>
              <a:ahLst/>
              <a:cxnLst/>
              <a:rect r="r" b="b" t="t" l="l"/>
              <a:pathLst>
                <a:path h="567238" w="4274726">
                  <a:moveTo>
                    <a:pt x="0" y="0"/>
                  </a:moveTo>
                  <a:lnTo>
                    <a:pt x="4274726" y="0"/>
                  </a:lnTo>
                  <a:lnTo>
                    <a:pt x="4274726" y="567238"/>
                  </a:lnTo>
                  <a:lnTo>
                    <a:pt x="0" y="567238"/>
                  </a:lnTo>
                  <a:close/>
                </a:path>
              </a:pathLst>
            </a:custGeom>
            <a:solidFill>
              <a:srgbClr val="FFD9C2"/>
            </a:solidFill>
            <a:ln w="95250" cap="sq">
              <a:solidFill>
                <a:srgbClr val="FFFFFF"/>
              </a:solidFill>
              <a:prstDash val="solid"/>
              <a:miter/>
            </a:ln>
          </p:spPr>
        </p:sp>
        <p:sp>
          <p:nvSpPr>
            <p:cNvPr name="TextBox 8" id="8"/>
            <p:cNvSpPr txBox="true"/>
            <p:nvPr/>
          </p:nvSpPr>
          <p:spPr>
            <a:xfrm>
              <a:off x="0" y="-47625"/>
              <a:ext cx="4274726" cy="61486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862356" y="7109019"/>
            <a:ext cx="14396944" cy="1308294"/>
            <a:chOff x="0" y="0"/>
            <a:chExt cx="3791788" cy="344571"/>
          </a:xfrm>
        </p:grpSpPr>
        <p:sp>
          <p:nvSpPr>
            <p:cNvPr name="Freeform 10" id="10"/>
            <p:cNvSpPr/>
            <p:nvPr/>
          </p:nvSpPr>
          <p:spPr>
            <a:xfrm flipH="false" flipV="false" rot="0">
              <a:off x="0" y="0"/>
              <a:ext cx="3791788" cy="344571"/>
            </a:xfrm>
            <a:custGeom>
              <a:avLst/>
              <a:gdLst/>
              <a:ahLst/>
              <a:cxnLst/>
              <a:rect r="r" b="b" t="t" l="l"/>
              <a:pathLst>
                <a:path h="344571" w="3791788">
                  <a:moveTo>
                    <a:pt x="0" y="0"/>
                  </a:moveTo>
                  <a:lnTo>
                    <a:pt x="3791788" y="0"/>
                  </a:lnTo>
                  <a:lnTo>
                    <a:pt x="3791788" y="344571"/>
                  </a:lnTo>
                  <a:lnTo>
                    <a:pt x="0" y="344571"/>
                  </a:lnTo>
                  <a:close/>
                </a:path>
              </a:pathLst>
            </a:custGeom>
            <a:solidFill>
              <a:srgbClr val="FFC2C2"/>
            </a:solidFill>
            <a:ln w="95250" cap="sq">
              <a:solidFill>
                <a:srgbClr val="FFFFFF"/>
              </a:solidFill>
              <a:prstDash val="solid"/>
              <a:miter/>
            </a:ln>
          </p:spPr>
        </p:sp>
        <p:sp>
          <p:nvSpPr>
            <p:cNvPr name="TextBox 11" id="11"/>
            <p:cNvSpPr txBox="true"/>
            <p:nvPr/>
          </p:nvSpPr>
          <p:spPr>
            <a:xfrm>
              <a:off x="0" y="-47625"/>
              <a:ext cx="3791788" cy="392196"/>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218189" y="4867323"/>
            <a:ext cx="1240791" cy="1282773"/>
          </a:xfrm>
          <a:custGeom>
            <a:avLst/>
            <a:gdLst/>
            <a:ahLst/>
            <a:cxnLst/>
            <a:rect r="r" b="b" t="t" l="l"/>
            <a:pathLst>
              <a:path h="1282773" w="1240791">
                <a:moveTo>
                  <a:pt x="0" y="0"/>
                </a:moveTo>
                <a:lnTo>
                  <a:pt x="1240791" y="0"/>
                </a:lnTo>
                <a:lnTo>
                  <a:pt x="1240791" y="1282773"/>
                </a:lnTo>
                <a:lnTo>
                  <a:pt x="0" y="12827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458980" y="1279303"/>
            <a:ext cx="14229080" cy="1477006"/>
          </a:xfrm>
          <a:prstGeom prst="rect">
            <a:avLst/>
          </a:prstGeom>
        </p:spPr>
        <p:txBody>
          <a:bodyPr anchor="t" rtlCol="false" tIns="0" lIns="0" bIns="0" rIns="0">
            <a:spAutoFit/>
          </a:bodyPr>
          <a:lstStyle/>
          <a:p>
            <a:pPr algn="ctr">
              <a:lnSpc>
                <a:spcPts val="12040"/>
              </a:lnSpc>
            </a:pPr>
            <a:r>
              <a:rPr lang="en-US" sz="8600" spc="172">
                <a:solidFill>
                  <a:srgbClr val="503530"/>
                </a:solidFill>
                <a:latin typeface="Squada One"/>
                <a:ea typeface="Squada One"/>
                <a:cs typeface="Squada One"/>
                <a:sym typeface="Squada One"/>
              </a:rPr>
              <a:t>TO SUM UP</a:t>
            </a:r>
          </a:p>
        </p:txBody>
      </p:sp>
      <p:sp>
        <p:nvSpPr>
          <p:cNvPr name="TextBox 14" id="14"/>
          <p:cNvSpPr txBox="true"/>
          <p:nvPr/>
        </p:nvSpPr>
        <p:spPr>
          <a:xfrm rot="0">
            <a:off x="2597244" y="5153781"/>
            <a:ext cx="14927167" cy="672465"/>
          </a:xfrm>
          <a:prstGeom prst="rect">
            <a:avLst/>
          </a:prstGeom>
        </p:spPr>
        <p:txBody>
          <a:bodyPr anchor="t" rtlCol="false" tIns="0" lIns="0" bIns="0" rIns="0">
            <a:spAutoFit/>
          </a:bodyPr>
          <a:lstStyle/>
          <a:p>
            <a:pPr algn="ctr">
              <a:lnSpc>
                <a:spcPts val="5459"/>
              </a:lnSpc>
            </a:pPr>
            <a:r>
              <a:rPr lang="en-US" sz="3900" spc="78">
                <a:solidFill>
                  <a:srgbClr val="503530"/>
                </a:solidFill>
                <a:latin typeface="Squada One"/>
                <a:ea typeface="Squada One"/>
                <a:cs typeface="Squada One"/>
                <a:sym typeface="Squada One"/>
              </a:rPr>
              <a:t>we learned what is the kalman filter, why and when we should use it</a:t>
            </a:r>
          </a:p>
        </p:txBody>
      </p:sp>
      <p:sp>
        <p:nvSpPr>
          <p:cNvPr name="TextBox 15" id="15"/>
          <p:cNvSpPr txBox="true"/>
          <p:nvPr/>
        </p:nvSpPr>
        <p:spPr>
          <a:xfrm rot="0">
            <a:off x="3201546" y="7371310"/>
            <a:ext cx="12254380" cy="672465"/>
          </a:xfrm>
          <a:prstGeom prst="rect">
            <a:avLst/>
          </a:prstGeom>
        </p:spPr>
        <p:txBody>
          <a:bodyPr anchor="t" rtlCol="false" tIns="0" lIns="0" bIns="0" rIns="0">
            <a:spAutoFit/>
          </a:bodyPr>
          <a:lstStyle/>
          <a:p>
            <a:pPr algn="ctr">
              <a:lnSpc>
                <a:spcPts val="5460"/>
              </a:lnSpc>
            </a:pPr>
            <a:r>
              <a:rPr lang="en-US" sz="3900" spc="78">
                <a:solidFill>
                  <a:srgbClr val="503530"/>
                </a:solidFill>
                <a:latin typeface="Squada One"/>
                <a:ea typeface="Squada One"/>
                <a:cs typeface="Squada One"/>
                <a:sym typeface="Squada One"/>
              </a:rPr>
              <a:t>we learned how to use the kalman filter and why it works</a:t>
            </a:r>
          </a:p>
        </p:txBody>
      </p:sp>
      <p:sp>
        <p:nvSpPr>
          <p:cNvPr name="Freeform 16" id="16"/>
          <p:cNvSpPr/>
          <p:nvPr/>
        </p:nvSpPr>
        <p:spPr>
          <a:xfrm flipH="false" flipV="false" rot="0">
            <a:off x="1218189" y="7109019"/>
            <a:ext cx="1240791" cy="1282773"/>
          </a:xfrm>
          <a:custGeom>
            <a:avLst/>
            <a:gdLst/>
            <a:ahLst/>
            <a:cxnLst/>
            <a:rect r="r" b="b" t="t" l="l"/>
            <a:pathLst>
              <a:path h="1282773" w="1240791">
                <a:moveTo>
                  <a:pt x="0" y="0"/>
                </a:moveTo>
                <a:lnTo>
                  <a:pt x="1240791" y="0"/>
                </a:lnTo>
                <a:lnTo>
                  <a:pt x="1240791" y="1282772"/>
                </a:lnTo>
                <a:lnTo>
                  <a:pt x="0" y="1282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DAHSbPwyUJo</dc:identifier>
  <dcterms:modified xsi:type="dcterms:W3CDTF">2011-08-01T06:04:30Z</dcterms:modified>
  <cp:revision>1</cp:revision>
  <dc:title>kalman filter</dc:title>
</cp:coreProperties>
</file>