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Narrow Ultra-Bold" charset="1" panose="00000906000000000000"/>
      <p:regular r:id="rId14"/>
    </p:embeddedFont>
    <p:embeddedFont>
      <p:font typeface="Miriam Libre" charset="1" panose="00000500000000000000"/>
      <p:regular r:id="rId15"/>
    </p:embeddedFont>
    <p:embeddedFont>
      <p:font typeface="Miriam Libre Bold" charset="1" panose="00000800000000000000"/>
      <p:regular r:id="rId16"/>
    </p:embeddedFont>
    <p:embeddedFont>
      <p:font typeface="Gveret Levin" charset="1" panose="00000500000000000000"/>
      <p:regular r:id="rId17"/>
    </p:embeddedFont>
    <p:embeddedFont>
      <p:font typeface="Agrandir Narrow Bold" charset="1" panose="00000806000000000000"/>
      <p:regular r:id="rId18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en.wikipedia.org/wiki/Hilbert_number" TargetMode="External" Type="http://schemas.openxmlformats.org/officeDocument/2006/relationships/hyperlink"/><Relationship Id="rId11" Target="https://en.wikipedia.org/wiki/Hilbert_ring" TargetMode="External" Type="http://schemas.openxmlformats.org/officeDocument/2006/relationships/hyperlink"/><Relationship Id="rId12" Target="https://en.wikipedia.org/wiki/Hilbert%E2%80%93Poincar%C3%A9_series" TargetMode="External" Type="http://schemas.openxmlformats.org/officeDocument/2006/relationships/hyperlink"/><Relationship Id="rId13" Target="https://en.wikipedia.org/wiki/Hilbert_series_and_Hilbert_polynomial" TargetMode="External" Type="http://schemas.openxmlformats.org/officeDocument/2006/relationships/hyperlink"/><Relationship Id="rId14" Target="https://en.wikipedia.org/wiki/Hilbert_space" TargetMode="External" Type="http://schemas.openxmlformats.org/officeDocument/2006/relationships/hyperlink"/><Relationship Id="rId15" Target="https://en.wikipedia.org/wiki/Hilbert_spectrum" TargetMode="External" Type="http://schemas.openxmlformats.org/officeDocument/2006/relationships/hyperlink"/><Relationship Id="rId16" Target="https://en.wikipedia.org/wiki/Hilbert_system" TargetMode="External" Type="http://schemas.openxmlformats.org/officeDocument/2006/relationships/hyperlink"/><Relationship Id="rId17" Target="https://en.wikipedia.org/wiki/Hilbert_transform" TargetMode="External" Type="http://schemas.openxmlformats.org/officeDocument/2006/relationships/hyperlink"/><Relationship Id="rId18" Target="https://en.wikipedia.org/wiki/Hilbert%27s_arithmetic_of_ends" TargetMode="External" Type="http://schemas.openxmlformats.org/officeDocument/2006/relationships/hyperlink"/><Relationship Id="rId19" Target="https://en.wikipedia.org/wiki/Hilbert%27s_paradox_of_the_Grand_Hotel" TargetMode="External" Type="http://schemas.openxmlformats.org/officeDocument/2006/relationships/hyperlink"/><Relationship Id="rId2" Target="https://en.wikipedia.org/wiki/List_of_things_named_after_David_Hilbert" TargetMode="External" Type="http://schemas.openxmlformats.org/officeDocument/2006/relationships/hyperlink"/><Relationship Id="rId20" Target="https://en.wikipedia.org/wiki/Hilbert%E2%80%93Schmidt_operator" TargetMode="External" Type="http://schemas.openxmlformats.org/officeDocument/2006/relationships/hyperlink"/><Relationship Id="rId21" Target="https://en.wikipedia.org/wiki/Hilbert%E2%80%93Smith_conjecture" TargetMode="External" Type="http://schemas.openxmlformats.org/officeDocument/2006/relationships/hyperlink"/><Relationship Id="rId22" Target="https://en.wikipedia.org/wiki/Hilbert%E2%80%93Burch_theorem" TargetMode="External" Type="http://schemas.openxmlformats.org/officeDocument/2006/relationships/hyperlink"/><Relationship Id="rId23" Target="https://en.wikipedia.org/wiki/Hilbert%27s_irreducibility_theorem" TargetMode="External" Type="http://schemas.openxmlformats.org/officeDocument/2006/relationships/hyperlink"/><Relationship Id="rId24" Target="https://en.wikipedia.org/wiki/Hilbert%27s_Nullstellensatz" TargetMode="External" Type="http://schemas.openxmlformats.org/officeDocument/2006/relationships/hyperlink"/><Relationship Id="rId25" Target="https://en.wikipedia.org/wiki/Hilbert%27s_theorem_(differential_geometry)" TargetMode="External" Type="http://schemas.openxmlformats.org/officeDocument/2006/relationships/hyperlink"/><Relationship Id="rId26" Target="https://en.wikipedia.org/wiki/Hilbert%27s_theorem_(differential_geometry)" TargetMode="External" Type="http://schemas.openxmlformats.org/officeDocument/2006/relationships/hyperlink"/><Relationship Id="rId27" Target="https://en.wikipedia.org/wiki/Hilbert%27s_Theorem_90" TargetMode="External" Type="http://schemas.openxmlformats.org/officeDocument/2006/relationships/hyperlink"/><Relationship Id="rId28" Target="https://en.wikipedia.org/wiki/Hilbert%27s_syzygy_theorem" TargetMode="External" Type="http://schemas.openxmlformats.org/officeDocument/2006/relationships/hyperlink"/><Relationship Id="rId29" Target="https://en.wikipedia.org/wiki/Hilbert%E2%80%93Speiser_theorem" TargetMode="External" Type="http://schemas.openxmlformats.org/officeDocument/2006/relationships/hyperlink"/><Relationship Id="rId3" Target="https://en.wikipedia.org/wiki/Foundations_of_geometry" TargetMode="External" Type="http://schemas.openxmlformats.org/officeDocument/2006/relationships/hyperlink"/><Relationship Id="rId30" Target="https://en.wikipedia.org/wiki/Brouwer%E2%80%93Hilbert_controversy" TargetMode="External" Type="http://schemas.openxmlformats.org/officeDocument/2006/relationships/hyperlink"/><Relationship Id="rId31" Target="https://en.wikipedia.org/wiki/Direct_method_in_the_calculus_of_variations" TargetMode="External" Type="http://schemas.openxmlformats.org/officeDocument/2006/relationships/hyperlink"/><Relationship Id="rId32" Target="https://en.wikipedia.org/wiki/Entscheidungsproblem" TargetMode="External" Type="http://schemas.openxmlformats.org/officeDocument/2006/relationships/hyperlink"/><Relationship Id="rId33" Target="https://en.wikipedia.org/wiki/Geometry_and_the_Imagination" TargetMode="External" Type="http://schemas.openxmlformats.org/officeDocument/2006/relationships/hyperlink"/><Relationship Id="rId34" Target="https://en.wikipedia.org/wiki/General_relativity_priority_dispute" TargetMode="External" Type="http://schemas.openxmlformats.org/officeDocument/2006/relationships/hyperlink"/><Relationship Id="rId35" Target="../media/image14.png" Type="http://schemas.openxmlformats.org/officeDocument/2006/relationships/image"/><Relationship Id="rId4" Target="https://en.wikipedia.org/wiki/Hilbert_C*-module" TargetMode="External" Type="http://schemas.openxmlformats.org/officeDocument/2006/relationships/hyperlink"/><Relationship Id="rId5" Target="https://en.wikipedia.org/wiki/Hilbert_cube" TargetMode="External" Type="http://schemas.openxmlformats.org/officeDocument/2006/relationships/hyperlink"/><Relationship Id="rId6" Target="https://en.wikipedia.org/wiki/Hilbert_curve" TargetMode="External" Type="http://schemas.openxmlformats.org/officeDocument/2006/relationships/hyperlink"/><Relationship Id="rId7" Target="https://en.wikipedia.org/wiki/Hilbert_matrix" TargetMode="External" Type="http://schemas.openxmlformats.org/officeDocument/2006/relationships/hyperlink"/><Relationship Id="rId8" Target="https://en.wikipedia.org/wiki/Hilbert_metric" TargetMode="External" Type="http://schemas.openxmlformats.org/officeDocument/2006/relationships/hyperlink"/><Relationship Id="rId9" Target="https://en.wikipedia.org/wiki/Hilbert%E2%80%93Mumford_criterion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5796" y="2780054"/>
            <a:ext cx="10736409" cy="3504659"/>
            <a:chOff x="0" y="0"/>
            <a:chExt cx="2827696" cy="923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7696" cy="923038"/>
            </a:xfrm>
            <a:custGeom>
              <a:avLst/>
              <a:gdLst/>
              <a:ahLst/>
              <a:cxnLst/>
              <a:rect r="r" b="b" t="t" l="l"/>
              <a:pathLst>
                <a:path h="923038" w="2827696">
                  <a:moveTo>
                    <a:pt x="18027" y="0"/>
                  </a:moveTo>
                  <a:lnTo>
                    <a:pt x="2809669" y="0"/>
                  </a:lnTo>
                  <a:cubicBezTo>
                    <a:pt x="2819625" y="0"/>
                    <a:pt x="2827696" y="8071"/>
                    <a:pt x="2827696" y="18027"/>
                  </a:cubicBezTo>
                  <a:lnTo>
                    <a:pt x="2827696" y="905010"/>
                  </a:lnTo>
                  <a:cubicBezTo>
                    <a:pt x="2827696" y="914967"/>
                    <a:pt x="2819625" y="923038"/>
                    <a:pt x="2809669" y="923038"/>
                  </a:cubicBezTo>
                  <a:lnTo>
                    <a:pt x="18027" y="923038"/>
                  </a:lnTo>
                  <a:cubicBezTo>
                    <a:pt x="8071" y="923038"/>
                    <a:pt x="0" y="914967"/>
                    <a:pt x="0" y="905010"/>
                  </a:cubicBezTo>
                  <a:lnTo>
                    <a:pt x="0" y="18027"/>
                  </a:lnTo>
                  <a:cubicBezTo>
                    <a:pt x="0" y="8071"/>
                    <a:pt x="8071" y="0"/>
                    <a:pt x="180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57175"/>
              <a:ext cx="2827696" cy="11802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15179"/>
                </a:lnSpc>
                <a:spcBef>
                  <a:spcPct val="0"/>
                </a:spcBef>
              </a:pPr>
              <a:r>
                <a:rPr lang="en-US" b="true" sz="13799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Hilbert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81500" y="6587915"/>
            <a:ext cx="9525000" cy="1143000"/>
            <a:chOff x="0" y="0"/>
            <a:chExt cx="2508642" cy="301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8642" cy="301037"/>
            </a:xfrm>
            <a:custGeom>
              <a:avLst/>
              <a:gdLst/>
              <a:ahLst/>
              <a:cxnLst/>
              <a:rect r="r" b="b" t="t" l="l"/>
              <a:pathLst>
                <a:path h="301037" w="2508642">
                  <a:moveTo>
                    <a:pt x="20320" y="0"/>
                  </a:moveTo>
                  <a:lnTo>
                    <a:pt x="2488322" y="0"/>
                  </a:lnTo>
                  <a:cubicBezTo>
                    <a:pt x="2499545" y="0"/>
                    <a:pt x="2508642" y="9098"/>
                    <a:pt x="2508642" y="20320"/>
                  </a:cubicBezTo>
                  <a:lnTo>
                    <a:pt x="2508642" y="280717"/>
                  </a:lnTo>
                  <a:cubicBezTo>
                    <a:pt x="2508642" y="286106"/>
                    <a:pt x="2506501" y="291275"/>
                    <a:pt x="2502690" y="295085"/>
                  </a:cubicBezTo>
                  <a:cubicBezTo>
                    <a:pt x="2498880" y="298896"/>
                    <a:pt x="2493711" y="301037"/>
                    <a:pt x="2488322" y="301037"/>
                  </a:cubicBezTo>
                  <a:lnTo>
                    <a:pt x="20320" y="301037"/>
                  </a:lnTo>
                  <a:cubicBezTo>
                    <a:pt x="9098" y="301037"/>
                    <a:pt x="0" y="291939"/>
                    <a:pt x="0" y="280717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08642" cy="30103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4560"/>
                </a:lnSpc>
              </a:pPr>
              <a:r>
                <a:rPr lang="he-IL" sz="38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האיש, לא המדור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95500" y="4532383"/>
            <a:ext cx="3053142" cy="4575554"/>
          </a:xfrm>
          <a:custGeom>
            <a:avLst/>
            <a:gdLst/>
            <a:ahLst/>
            <a:cxnLst/>
            <a:rect r="r" b="b" t="t" l="l"/>
            <a:pathLst>
              <a:path h="4575554" w="3053142">
                <a:moveTo>
                  <a:pt x="0" y="0"/>
                </a:moveTo>
                <a:lnTo>
                  <a:pt x="3053142" y="0"/>
                </a:lnTo>
                <a:lnTo>
                  <a:pt x="3053142" y="4575554"/>
                </a:lnTo>
                <a:lnTo>
                  <a:pt x="0" y="457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440889">
            <a:off x="13958458" y="2606869"/>
            <a:ext cx="3274022" cy="3274022"/>
          </a:xfrm>
          <a:custGeom>
            <a:avLst/>
            <a:gdLst/>
            <a:ahLst/>
            <a:cxnLst/>
            <a:rect r="r" b="b" t="t" l="l"/>
            <a:pathLst>
              <a:path h="3274022" w="3274022">
                <a:moveTo>
                  <a:pt x="0" y="0"/>
                </a:moveTo>
                <a:lnTo>
                  <a:pt x="3274021" y="0"/>
                </a:lnTo>
                <a:lnTo>
                  <a:pt x="3274021" y="3274022"/>
                </a:lnTo>
                <a:lnTo>
                  <a:pt x="0" y="3274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68199" y="7125593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02949" y="-1028700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1" y="0"/>
                </a:lnTo>
                <a:lnTo>
                  <a:pt x="4553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18686" y="1272760"/>
            <a:ext cx="1668272" cy="1813340"/>
          </a:xfrm>
          <a:custGeom>
            <a:avLst/>
            <a:gdLst/>
            <a:ahLst/>
            <a:cxnLst/>
            <a:rect r="r" b="b" t="t" l="l"/>
            <a:pathLst>
              <a:path h="1813340" w="1668272">
                <a:moveTo>
                  <a:pt x="0" y="0"/>
                </a:moveTo>
                <a:lnTo>
                  <a:pt x="1668272" y="0"/>
                </a:lnTo>
                <a:lnTo>
                  <a:pt x="1668272" y="1813340"/>
                </a:lnTo>
                <a:lnTo>
                  <a:pt x="0" y="1813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0" y="7230265"/>
            <a:ext cx="18669000" cy="3247235"/>
            <a:chOff x="0" y="0"/>
            <a:chExt cx="4741333" cy="8246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41333" cy="824695"/>
            </a:xfrm>
            <a:custGeom>
              <a:avLst/>
              <a:gdLst/>
              <a:ahLst/>
              <a:cxnLst/>
              <a:rect r="r" b="b" t="t" l="l"/>
              <a:pathLst>
                <a:path h="824695" w="4741333">
                  <a:moveTo>
                    <a:pt x="0" y="0"/>
                  </a:moveTo>
                  <a:lnTo>
                    <a:pt x="4741333" y="0"/>
                  </a:lnTo>
                  <a:lnTo>
                    <a:pt x="4741333" y="824695"/>
                  </a:lnTo>
                  <a:lnTo>
                    <a:pt x="0" y="824695"/>
                  </a:lnTo>
                  <a:close/>
                </a:path>
              </a:pathLst>
            </a:custGeom>
            <a:solidFill>
              <a:srgbClr val="38476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741333" cy="786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81800" y="4193618"/>
            <a:ext cx="10477500" cy="4378882"/>
          </a:xfrm>
          <a:custGeom>
            <a:avLst/>
            <a:gdLst/>
            <a:ahLst/>
            <a:cxnLst/>
            <a:rect r="r" b="b" t="t" l="l"/>
            <a:pathLst>
              <a:path h="4378882" w="10477500">
                <a:moveTo>
                  <a:pt x="0" y="0"/>
                </a:moveTo>
                <a:lnTo>
                  <a:pt x="10477500" y="0"/>
                </a:lnTo>
                <a:lnTo>
                  <a:pt x="10477500" y="4378882"/>
                </a:lnTo>
                <a:lnTo>
                  <a:pt x="0" y="4378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74" t="-38043" r="-2571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6" id="6"/>
          <p:cNvGrpSpPr/>
          <p:nvPr/>
        </p:nvGrpSpPr>
        <p:grpSpPr>
          <a:xfrm rot="0">
            <a:off x="6667500" y="1821893"/>
            <a:ext cx="10477500" cy="2095500"/>
            <a:chOff x="0" y="0"/>
            <a:chExt cx="1897160" cy="379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7161" cy="379432"/>
            </a:xfrm>
            <a:custGeom>
              <a:avLst/>
              <a:gdLst/>
              <a:ahLst/>
              <a:cxnLst/>
              <a:rect r="r" b="b" t="t" l="l"/>
              <a:pathLst>
                <a:path h="379432" w="1897161">
                  <a:moveTo>
                    <a:pt x="18473" y="0"/>
                  </a:moveTo>
                  <a:lnTo>
                    <a:pt x="1878688" y="0"/>
                  </a:lnTo>
                  <a:cubicBezTo>
                    <a:pt x="1883587" y="0"/>
                    <a:pt x="1888286" y="1946"/>
                    <a:pt x="1891750" y="5411"/>
                  </a:cubicBezTo>
                  <a:cubicBezTo>
                    <a:pt x="1895214" y="8875"/>
                    <a:pt x="1897161" y="13573"/>
                    <a:pt x="1897161" y="18473"/>
                  </a:cubicBezTo>
                  <a:lnTo>
                    <a:pt x="1897161" y="360959"/>
                  </a:lnTo>
                  <a:cubicBezTo>
                    <a:pt x="1897161" y="365859"/>
                    <a:pt x="1895214" y="370557"/>
                    <a:pt x="1891750" y="374022"/>
                  </a:cubicBezTo>
                  <a:cubicBezTo>
                    <a:pt x="1888286" y="377486"/>
                    <a:pt x="1883587" y="379432"/>
                    <a:pt x="1878688" y="379432"/>
                  </a:cubicBezTo>
                  <a:lnTo>
                    <a:pt x="18473" y="379432"/>
                  </a:lnTo>
                  <a:cubicBezTo>
                    <a:pt x="13573" y="379432"/>
                    <a:pt x="8875" y="377486"/>
                    <a:pt x="5411" y="374022"/>
                  </a:cubicBezTo>
                  <a:cubicBezTo>
                    <a:pt x="1946" y="370557"/>
                    <a:pt x="0" y="365859"/>
                    <a:pt x="0" y="360959"/>
                  </a:cubicBezTo>
                  <a:lnTo>
                    <a:pt x="0" y="18473"/>
                  </a:lnTo>
                  <a:cubicBezTo>
                    <a:pt x="0" y="13573"/>
                    <a:pt x="1946" y="8875"/>
                    <a:pt x="5411" y="5411"/>
                  </a:cubicBezTo>
                  <a:cubicBezTo>
                    <a:pt x="8875" y="1946"/>
                    <a:pt x="13573" y="0"/>
                    <a:pt x="18473" y="0"/>
                  </a:cubicBezTo>
                  <a:close/>
                </a:path>
              </a:pathLst>
            </a:custGeom>
            <a:solidFill>
              <a:srgbClr val="F2C74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897160" cy="541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899"/>
                </a:lnSpc>
              </a:pPr>
              <a:r>
                <a:rPr lang="en-US" b="true" sz="8999" strike="noStrike" u="non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Today’s Focus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4951854"/>
            <a:ext cx="4675427" cy="2890264"/>
          </a:xfrm>
          <a:custGeom>
            <a:avLst/>
            <a:gdLst/>
            <a:ahLst/>
            <a:cxnLst/>
            <a:rect r="r" b="b" t="t" l="l"/>
            <a:pathLst>
              <a:path h="2890264" w="4675427">
                <a:moveTo>
                  <a:pt x="0" y="0"/>
                </a:moveTo>
                <a:lnTo>
                  <a:pt x="4675427" y="0"/>
                </a:lnTo>
                <a:lnTo>
                  <a:pt x="4675427" y="2890264"/>
                </a:lnTo>
                <a:lnTo>
                  <a:pt x="0" y="2890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20000" y="4716300"/>
            <a:ext cx="857250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4940"/>
              </a:lnSpc>
              <a:buFont typeface="Arial"/>
              <a:buChar char="•"/>
            </a:pPr>
            <a:r>
              <a:rPr lang="en-US" sz="3800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Who’s Hilbert?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20000" y="5788022"/>
            <a:ext cx="857250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Hilberts transform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0000" y="6859743"/>
            <a:ext cx="857250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Hilbert Space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37174" y="2289019"/>
            <a:ext cx="5258478" cy="1161247"/>
          </a:xfrm>
          <a:custGeom>
            <a:avLst/>
            <a:gdLst/>
            <a:ahLst/>
            <a:cxnLst/>
            <a:rect r="r" b="b" t="t" l="l"/>
            <a:pathLst>
              <a:path h="1161247" w="5258478">
                <a:moveTo>
                  <a:pt x="0" y="0"/>
                </a:moveTo>
                <a:lnTo>
                  <a:pt x="5258478" y="0"/>
                </a:lnTo>
                <a:lnTo>
                  <a:pt x="5258478" y="1161248"/>
                </a:lnTo>
                <a:lnTo>
                  <a:pt x="0" y="1161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01500" y="2476500"/>
            <a:ext cx="5143500" cy="6477000"/>
            <a:chOff x="0" y="0"/>
            <a:chExt cx="1379753" cy="173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9753" cy="1737467"/>
            </a:xfrm>
            <a:custGeom>
              <a:avLst/>
              <a:gdLst/>
              <a:ahLst/>
              <a:cxnLst/>
              <a:rect r="r" b="b" t="t" l="l"/>
              <a:pathLst>
                <a:path h="1737467" w="1379753">
                  <a:moveTo>
                    <a:pt x="37630" y="0"/>
                  </a:moveTo>
                  <a:lnTo>
                    <a:pt x="1342124" y="0"/>
                  </a:lnTo>
                  <a:cubicBezTo>
                    <a:pt x="1352104" y="0"/>
                    <a:pt x="1361675" y="3965"/>
                    <a:pt x="1368732" y="11021"/>
                  </a:cubicBezTo>
                  <a:cubicBezTo>
                    <a:pt x="1375789" y="18078"/>
                    <a:pt x="1379753" y="27650"/>
                    <a:pt x="1379753" y="37630"/>
                  </a:cubicBezTo>
                  <a:lnTo>
                    <a:pt x="1379753" y="1699837"/>
                  </a:lnTo>
                  <a:cubicBezTo>
                    <a:pt x="1379753" y="1709817"/>
                    <a:pt x="1375789" y="1719388"/>
                    <a:pt x="1368732" y="1726445"/>
                  </a:cubicBezTo>
                  <a:cubicBezTo>
                    <a:pt x="1361675" y="1733502"/>
                    <a:pt x="1352104" y="1737467"/>
                    <a:pt x="1342124" y="1737467"/>
                  </a:cubicBezTo>
                  <a:lnTo>
                    <a:pt x="37630" y="1737467"/>
                  </a:lnTo>
                  <a:cubicBezTo>
                    <a:pt x="27650" y="1737467"/>
                    <a:pt x="18078" y="1733502"/>
                    <a:pt x="11021" y="1726445"/>
                  </a:cubicBezTo>
                  <a:cubicBezTo>
                    <a:pt x="3965" y="1719388"/>
                    <a:pt x="0" y="1709817"/>
                    <a:pt x="0" y="169983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379753" cy="169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2476500"/>
            <a:ext cx="5143500" cy="6477000"/>
            <a:chOff x="0" y="0"/>
            <a:chExt cx="1379753" cy="173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9753" cy="1737467"/>
            </a:xfrm>
            <a:custGeom>
              <a:avLst/>
              <a:gdLst/>
              <a:ahLst/>
              <a:cxnLst/>
              <a:rect r="r" b="b" t="t" l="l"/>
              <a:pathLst>
                <a:path h="1737467" w="1379753">
                  <a:moveTo>
                    <a:pt x="37630" y="0"/>
                  </a:moveTo>
                  <a:lnTo>
                    <a:pt x="1342124" y="0"/>
                  </a:lnTo>
                  <a:cubicBezTo>
                    <a:pt x="1352104" y="0"/>
                    <a:pt x="1361675" y="3965"/>
                    <a:pt x="1368732" y="11021"/>
                  </a:cubicBezTo>
                  <a:cubicBezTo>
                    <a:pt x="1375789" y="18078"/>
                    <a:pt x="1379753" y="27650"/>
                    <a:pt x="1379753" y="37630"/>
                  </a:cubicBezTo>
                  <a:lnTo>
                    <a:pt x="1379753" y="1699837"/>
                  </a:lnTo>
                  <a:cubicBezTo>
                    <a:pt x="1379753" y="1709817"/>
                    <a:pt x="1375789" y="1719388"/>
                    <a:pt x="1368732" y="1726445"/>
                  </a:cubicBezTo>
                  <a:cubicBezTo>
                    <a:pt x="1361675" y="1733502"/>
                    <a:pt x="1352104" y="1737467"/>
                    <a:pt x="1342124" y="1737467"/>
                  </a:cubicBezTo>
                  <a:lnTo>
                    <a:pt x="37630" y="1737467"/>
                  </a:lnTo>
                  <a:cubicBezTo>
                    <a:pt x="27650" y="1737467"/>
                    <a:pt x="18078" y="1733502"/>
                    <a:pt x="11021" y="1726445"/>
                  </a:cubicBezTo>
                  <a:cubicBezTo>
                    <a:pt x="3965" y="1719388"/>
                    <a:pt x="0" y="1709817"/>
                    <a:pt x="0" y="169983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379753" cy="169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6500" y="762000"/>
            <a:ext cx="7048500" cy="1143000"/>
            <a:chOff x="0" y="0"/>
            <a:chExt cx="1856395" cy="301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6395" cy="301037"/>
            </a:xfrm>
            <a:custGeom>
              <a:avLst/>
              <a:gdLst/>
              <a:ahLst/>
              <a:cxnLst/>
              <a:rect r="r" b="b" t="t" l="l"/>
              <a:pathLst>
                <a:path h="301037" w="1856395">
                  <a:moveTo>
                    <a:pt x="27459" y="0"/>
                  </a:moveTo>
                  <a:lnTo>
                    <a:pt x="1828936" y="0"/>
                  </a:lnTo>
                  <a:cubicBezTo>
                    <a:pt x="1844101" y="0"/>
                    <a:pt x="1856395" y="12294"/>
                    <a:pt x="1856395" y="27459"/>
                  </a:cubicBezTo>
                  <a:lnTo>
                    <a:pt x="1856395" y="273578"/>
                  </a:lnTo>
                  <a:cubicBezTo>
                    <a:pt x="1856395" y="280860"/>
                    <a:pt x="1853502" y="287845"/>
                    <a:pt x="1848352" y="292994"/>
                  </a:cubicBezTo>
                  <a:cubicBezTo>
                    <a:pt x="1843203" y="298144"/>
                    <a:pt x="1836218" y="301037"/>
                    <a:pt x="1828936" y="301037"/>
                  </a:cubicBezTo>
                  <a:lnTo>
                    <a:pt x="27459" y="301037"/>
                  </a:lnTo>
                  <a:cubicBezTo>
                    <a:pt x="20177" y="301037"/>
                    <a:pt x="13192" y="298144"/>
                    <a:pt x="8043" y="292994"/>
                  </a:cubicBezTo>
                  <a:cubicBezTo>
                    <a:pt x="2893" y="287845"/>
                    <a:pt x="0" y="280860"/>
                    <a:pt x="0" y="273578"/>
                  </a:cubicBezTo>
                  <a:lnTo>
                    <a:pt x="0" y="27459"/>
                  </a:lnTo>
                  <a:cubicBezTo>
                    <a:pt x="0" y="20177"/>
                    <a:pt x="2893" y="13192"/>
                    <a:pt x="8043" y="8043"/>
                  </a:cubicBezTo>
                  <a:cubicBezTo>
                    <a:pt x="13192" y="2893"/>
                    <a:pt x="20177" y="0"/>
                    <a:pt x="27459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856395" cy="30103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4200"/>
                </a:lnSpc>
              </a:pP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ולמה למדור שלנו קוראים על שמו?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72250" y="2476500"/>
            <a:ext cx="5143500" cy="6477000"/>
            <a:chOff x="0" y="0"/>
            <a:chExt cx="1379753" cy="173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9753" cy="1737467"/>
            </a:xfrm>
            <a:custGeom>
              <a:avLst/>
              <a:gdLst/>
              <a:ahLst/>
              <a:cxnLst/>
              <a:rect r="r" b="b" t="t" l="l"/>
              <a:pathLst>
                <a:path h="1737467" w="1379753">
                  <a:moveTo>
                    <a:pt x="37630" y="0"/>
                  </a:moveTo>
                  <a:lnTo>
                    <a:pt x="1342124" y="0"/>
                  </a:lnTo>
                  <a:cubicBezTo>
                    <a:pt x="1352104" y="0"/>
                    <a:pt x="1361675" y="3965"/>
                    <a:pt x="1368732" y="11021"/>
                  </a:cubicBezTo>
                  <a:cubicBezTo>
                    <a:pt x="1375789" y="18078"/>
                    <a:pt x="1379753" y="27650"/>
                    <a:pt x="1379753" y="37630"/>
                  </a:cubicBezTo>
                  <a:lnTo>
                    <a:pt x="1379753" y="1699837"/>
                  </a:lnTo>
                  <a:cubicBezTo>
                    <a:pt x="1379753" y="1709817"/>
                    <a:pt x="1375789" y="1719388"/>
                    <a:pt x="1368732" y="1726445"/>
                  </a:cubicBezTo>
                  <a:cubicBezTo>
                    <a:pt x="1361675" y="1733502"/>
                    <a:pt x="1352104" y="1737467"/>
                    <a:pt x="1342124" y="1737467"/>
                  </a:cubicBezTo>
                  <a:lnTo>
                    <a:pt x="37630" y="1737467"/>
                  </a:lnTo>
                  <a:cubicBezTo>
                    <a:pt x="27650" y="1737467"/>
                    <a:pt x="18078" y="1733502"/>
                    <a:pt x="11021" y="1726445"/>
                  </a:cubicBezTo>
                  <a:cubicBezTo>
                    <a:pt x="3965" y="1719388"/>
                    <a:pt x="0" y="1709817"/>
                    <a:pt x="0" y="169983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379753" cy="169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90875" y="8477250"/>
            <a:ext cx="1047750" cy="104775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800"/>
                </a:lnSpc>
              </a:pPr>
              <a:r>
                <a:rPr lang="en-US" b="true" sz="3800">
                  <a:solidFill>
                    <a:srgbClr val="000001"/>
                  </a:solidFill>
                  <a:latin typeface="Miriam Libre Bold"/>
                  <a:ea typeface="Miriam Libre Bold"/>
                  <a:cs typeface="Miriam Libre Bold"/>
                  <a:sym typeface="Miriam Libre Bold"/>
                </a:rPr>
                <a:t>8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572250" y="2476500"/>
            <a:ext cx="5143500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Concepts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" tooltip="https://en.wikipedia.org/wiki/List_of_things_named_after_David_Hilbert"/>
              </a:rPr>
              <a:t>List of things named after David Hilbert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3" tooltip="https://en.wikipedia.org/wiki/Foundations_of_geometry"/>
              </a:rPr>
              <a:t>Foundations of geometry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4" tooltip="https://en.wikipedia.org/wiki/Hilbert_C*-module"/>
              </a:rPr>
              <a:t>Hilbert C*-module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5" tooltip="https://en.wikipedia.org/wiki/Hilbert_cube"/>
              </a:rPr>
              <a:t>Hilbert cube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6" tooltip="https://en.wikipedia.org/wiki/Hilbert_curve"/>
              </a:rPr>
              <a:t>Hilbert curve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7" tooltip="https://en.wikipedia.org/wiki/Hilbert_matrix"/>
              </a:rPr>
              <a:t>Hilbert matrix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8" tooltip="https://en.wikipedia.org/wiki/Hilbert_metric"/>
              </a:rPr>
              <a:t>Hilbert metric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9" tooltip="https://en.wikipedia.org/wiki/Hilbert%E2%80%93Mumford_criterion"/>
              </a:rPr>
              <a:t>Hilbert–Mumford criterion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0" tooltip="https://en.wikipedia.org/wiki/Hilbert_number"/>
              </a:rPr>
              <a:t>Hilbert number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1" tooltip="https://en.wikipedia.org/wiki/Hilbert_ring"/>
              </a:rPr>
              <a:t>Hilbert ring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2" tooltip="https://en.wikipedia.org/wiki/Hilbert%E2%80%93Poincar%C3%A9_series"/>
              </a:rPr>
              <a:t>Hilbert–Poincaré series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3" tooltip="https://en.wikipedia.org/wiki/Hilbert_series_and_Hilbert_polynomial"/>
              </a:rPr>
              <a:t>Hilbert series and Hilbert polynomial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4" tooltip="https://en.wikipedia.org/wiki/Hilbert_space"/>
              </a:rPr>
              <a:t>Hilbert space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5" tooltip="https://en.wikipedia.org/wiki/Hilbert_spectrum"/>
              </a:rPr>
              <a:t>Hilbert spectrum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6" tooltip="https://en.wikipedia.org/wiki/Hilbert_system"/>
              </a:rPr>
              <a:t>Hilbert system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7" tooltip="https://en.wikipedia.org/wiki/Hilbert_transform"/>
              </a:rPr>
              <a:t>Hilbert transform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8" tooltip="https://en.wikipedia.org/wiki/Hilbert%27s_arithmetic_of_ends"/>
              </a:rPr>
              <a:t>Hilbert's arithmetic of ends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19" tooltip="https://en.wikipedia.org/wiki/Hilbert%27s_paradox_of_the_Grand_Hotel"/>
              </a:rPr>
              <a:t>Hilbert's paradox of the Grand Hotel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0" tooltip="https://en.wikipedia.org/wiki/Hilbert%E2%80%93Schmidt_operator"/>
              </a:rPr>
              <a:t>Hilbert–Schmidt operator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1" tooltip="https://en.wikipedia.org/wiki/Hilbert%E2%80%93Smith_conjecture"/>
              </a:rPr>
              <a:t>Hilbert–Smith conjecture</a:t>
            </a:r>
          </a:p>
          <a:p>
            <a:pPr algn="ctr" rtl="true">
              <a:lnSpc>
                <a:spcPts val="1439"/>
              </a:lnSpc>
            </a:pPr>
            <a:r>
              <a:rPr lang="en-US" sz="11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Theorems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2" tooltip="https://en.wikipedia.org/wiki/Hilbert%E2%80%93Burch_theorem"/>
              </a:rPr>
              <a:t>Hilbert–Burch theorem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3" tooltip="https://en.wikipedia.org/wiki/Hilbert%27s_irreducibility_theorem"/>
              </a:rPr>
              <a:t>Hilbert's irreducibility theorem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4" tooltip="https://en.wikipedia.org/wiki/Hilbert%27s_Nullstellensatz"/>
              </a:rPr>
              <a:t>Hilbert's Nullstellensatz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5" tooltip="https://en.wikipedia.org/wiki/Hilbert%27s_theorem_(differential_geometry)"/>
              </a:rPr>
              <a:t>Hilbert's</a:t>
            </a: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6" tooltip="https://en.wikipedia.org/wiki/Hilbert%27s_theorem_(differential_geometry)"/>
              </a:rPr>
              <a:t> theorem (differential geometry)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7" tooltip="https://en.wikipedia.org/wiki/Hilbert%27s_Theorem_90"/>
              </a:rPr>
              <a:t>Hilbert's Theorem 90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8" tooltip="https://en.wikipedia.org/wiki/Hilbert%27s_syzygy_theorem"/>
              </a:rPr>
              <a:t>Hilbert's syzygy theorem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29" tooltip="https://en.wikipedia.org/wiki/Hilbert%E2%80%93Speiser_theorem"/>
              </a:rPr>
              <a:t>Hilbert–Speiser theorem</a:t>
            </a:r>
          </a:p>
          <a:p>
            <a:pPr algn="ctr" rtl="true">
              <a:lnSpc>
                <a:spcPts val="1439"/>
              </a:lnSpc>
            </a:pPr>
            <a:r>
              <a:rPr lang="en-US" sz="11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Other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30" tooltip="https://en.wikipedia.org/wiki/Brouwer%E2%80%93Hilbert_controversy"/>
              </a:rPr>
              <a:t>Brouwer–Hilbert controversy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31" tooltip="https://en.wikipedia.org/wiki/Direct_method_in_the_calculus_of_variations"/>
              </a:rPr>
              <a:t>Direct method in the calculus of variations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32" tooltip="https://en.wikipedia.org/wiki/Entscheidungsproblem"/>
              </a:rPr>
              <a:t>Entscheidungsproblem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33" tooltip="https://en.wikipedia.org/wiki/Geometry_and_the_Imagination"/>
              </a:rPr>
              <a:t>Geometry and the Imagination</a:t>
            </a:r>
          </a:p>
          <a:p>
            <a:pPr algn="ctr" rtl="true">
              <a:lnSpc>
                <a:spcPts val="1439"/>
              </a:lnSpc>
            </a:pPr>
            <a:r>
              <a:rPr lang="en-US" sz="1199" u="sng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hlinkClick r:id="rId34" tooltip="https://en.wikipedia.org/wiki/General_relativity_priority_dispute"/>
              </a:rPr>
              <a:t>General relativity priority dispute</a:t>
            </a:r>
          </a:p>
          <a:p>
            <a:pPr algn="ctr" rtl="true">
              <a:lnSpc>
                <a:spcPts val="143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8620125" y="8477250"/>
            <a:ext cx="1047750" cy="10477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80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000001"/>
                  </a:solidFill>
                  <a:latin typeface="Miriam Libre Bold"/>
                  <a:ea typeface="Miriam Libre Bold"/>
                  <a:cs typeface="Miriam Libre Bold"/>
                  <a:sym typeface="Miriam Libre Bold"/>
                </a:rPr>
                <a:t>6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405088" y="2614528"/>
            <a:ext cx="4336325" cy="6200945"/>
          </a:xfrm>
          <a:custGeom>
            <a:avLst/>
            <a:gdLst/>
            <a:ahLst/>
            <a:cxnLst/>
            <a:rect r="r" b="b" t="t" l="l"/>
            <a:pathLst>
              <a:path h="6200945" w="4336325">
                <a:moveTo>
                  <a:pt x="0" y="0"/>
                </a:moveTo>
                <a:lnTo>
                  <a:pt x="4336324" y="0"/>
                </a:lnTo>
                <a:lnTo>
                  <a:pt x="4336324" y="6200944"/>
                </a:lnTo>
                <a:lnTo>
                  <a:pt x="0" y="620094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049375" y="8477250"/>
            <a:ext cx="1047750" cy="10477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80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000001"/>
                  </a:solidFill>
                  <a:latin typeface="Miriam Libre Bold"/>
                  <a:ea typeface="Miriam Libre Bold"/>
                  <a:cs typeface="Miriam Libre Bold"/>
                  <a:sym typeface="Miriam Libre Bold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3000" y="638175"/>
            <a:ext cx="83820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Who is David?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3025" y="4341019"/>
            <a:ext cx="4743450" cy="277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</a:pPr>
            <a:r>
              <a:rPr lang="en-US" sz="3688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“Wir müssen wissen</a:t>
            </a:r>
          </a:p>
          <a:p>
            <a:pPr algn="ctr" rtl="true">
              <a:lnSpc>
                <a:spcPts val="4426"/>
              </a:lnSpc>
              <a:spcBef>
                <a:spcPct val="0"/>
              </a:spcBef>
            </a:pPr>
            <a:r>
              <a:rPr lang="ar-EG" sz="3688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“</a:t>
            </a:r>
            <a:r>
              <a:rPr lang="en-US" sz="3688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Wir</a:t>
            </a:r>
            <a:r>
              <a:rPr lang="en-US" sz="3688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 werden wissen</a:t>
            </a:r>
          </a:p>
          <a:p>
            <a:pPr algn="ctr" rtl="true">
              <a:lnSpc>
                <a:spcPts val="4426"/>
              </a:lnSpc>
              <a:spcBef>
                <a:spcPct val="0"/>
              </a:spcBef>
            </a:pPr>
          </a:p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688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“we must know</a:t>
            </a:r>
          </a:p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688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we will know”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6500" y="762000"/>
            <a:ext cx="7048500" cy="1143000"/>
            <a:chOff x="0" y="0"/>
            <a:chExt cx="1856395" cy="301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6395" cy="301037"/>
            </a:xfrm>
            <a:custGeom>
              <a:avLst/>
              <a:gdLst/>
              <a:ahLst/>
              <a:cxnLst/>
              <a:rect r="r" b="b" t="t" l="l"/>
              <a:pathLst>
                <a:path h="301037" w="1856395">
                  <a:moveTo>
                    <a:pt x="27459" y="0"/>
                  </a:moveTo>
                  <a:lnTo>
                    <a:pt x="1828936" y="0"/>
                  </a:lnTo>
                  <a:cubicBezTo>
                    <a:pt x="1844101" y="0"/>
                    <a:pt x="1856395" y="12294"/>
                    <a:pt x="1856395" y="27459"/>
                  </a:cubicBezTo>
                  <a:lnTo>
                    <a:pt x="1856395" y="273578"/>
                  </a:lnTo>
                  <a:cubicBezTo>
                    <a:pt x="1856395" y="280860"/>
                    <a:pt x="1853502" y="287845"/>
                    <a:pt x="1848352" y="292994"/>
                  </a:cubicBezTo>
                  <a:cubicBezTo>
                    <a:pt x="1843203" y="298144"/>
                    <a:pt x="1836218" y="301037"/>
                    <a:pt x="1828936" y="301037"/>
                  </a:cubicBezTo>
                  <a:lnTo>
                    <a:pt x="27459" y="301037"/>
                  </a:lnTo>
                  <a:cubicBezTo>
                    <a:pt x="20177" y="301037"/>
                    <a:pt x="13192" y="298144"/>
                    <a:pt x="8043" y="292994"/>
                  </a:cubicBezTo>
                  <a:cubicBezTo>
                    <a:pt x="2893" y="287845"/>
                    <a:pt x="0" y="280860"/>
                    <a:pt x="0" y="273578"/>
                  </a:cubicBezTo>
                  <a:lnTo>
                    <a:pt x="0" y="27459"/>
                  </a:lnTo>
                  <a:cubicBezTo>
                    <a:pt x="0" y="20177"/>
                    <a:pt x="2893" y="13192"/>
                    <a:pt x="8043" y="8043"/>
                  </a:cubicBezTo>
                  <a:cubicBezTo>
                    <a:pt x="13192" y="2893"/>
                    <a:pt x="20177" y="0"/>
                    <a:pt x="27459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856395" cy="30103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30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95361" y="949033"/>
            <a:ext cx="6650778" cy="768934"/>
          </a:xfrm>
          <a:custGeom>
            <a:avLst/>
            <a:gdLst/>
            <a:ahLst/>
            <a:cxnLst/>
            <a:rect r="r" b="b" t="t" l="l"/>
            <a:pathLst>
              <a:path h="768934" w="6650778">
                <a:moveTo>
                  <a:pt x="0" y="0"/>
                </a:moveTo>
                <a:lnTo>
                  <a:pt x="6650778" y="0"/>
                </a:lnTo>
                <a:lnTo>
                  <a:pt x="6650778" y="768934"/>
                </a:lnTo>
                <a:lnTo>
                  <a:pt x="0" y="76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3000" y="638175"/>
            <a:ext cx="8382000" cy="215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Hilberts transform</a:t>
            </a:r>
          </a:p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WHY?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3246" y="2811358"/>
            <a:ext cx="16006054" cy="1926783"/>
            <a:chOff x="0" y="0"/>
            <a:chExt cx="4215586" cy="5074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15586" cy="507465"/>
            </a:xfrm>
            <a:custGeom>
              <a:avLst/>
              <a:gdLst/>
              <a:ahLst/>
              <a:cxnLst/>
              <a:rect r="r" b="b" t="t" l="l"/>
              <a:pathLst>
                <a:path h="507465" w="4215586">
                  <a:moveTo>
                    <a:pt x="14511" y="0"/>
                  </a:moveTo>
                  <a:lnTo>
                    <a:pt x="4201075" y="0"/>
                  </a:lnTo>
                  <a:cubicBezTo>
                    <a:pt x="4204924" y="0"/>
                    <a:pt x="4208615" y="1529"/>
                    <a:pt x="4211336" y="4250"/>
                  </a:cubicBezTo>
                  <a:cubicBezTo>
                    <a:pt x="4214057" y="6971"/>
                    <a:pt x="4215586" y="10662"/>
                    <a:pt x="4215586" y="14511"/>
                  </a:cubicBezTo>
                  <a:lnTo>
                    <a:pt x="4215586" y="492955"/>
                  </a:lnTo>
                  <a:cubicBezTo>
                    <a:pt x="4215586" y="496803"/>
                    <a:pt x="4214057" y="500494"/>
                    <a:pt x="4211336" y="503215"/>
                  </a:cubicBezTo>
                  <a:cubicBezTo>
                    <a:pt x="4208615" y="505937"/>
                    <a:pt x="4204924" y="507465"/>
                    <a:pt x="4201075" y="507465"/>
                  </a:cubicBezTo>
                  <a:lnTo>
                    <a:pt x="14511" y="507465"/>
                  </a:lnTo>
                  <a:cubicBezTo>
                    <a:pt x="6497" y="507465"/>
                    <a:pt x="0" y="500969"/>
                    <a:pt x="0" y="492955"/>
                  </a:cubicBezTo>
                  <a:lnTo>
                    <a:pt x="0" y="14511"/>
                  </a:lnTo>
                  <a:cubicBezTo>
                    <a:pt x="0" y="6497"/>
                    <a:pt x="6497" y="0"/>
                    <a:pt x="145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4215586" cy="46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95500" y="2995066"/>
            <a:ext cx="14819096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199"/>
              </a:lnSpc>
            </a:pP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יצירת אות אנלי</a:t>
            </a: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טי</a:t>
            </a:r>
          </a:p>
          <a:p>
            <a:pPr algn="ctr" rtl="true">
              <a:lnSpc>
                <a:spcPts val="4199"/>
              </a:lnSpc>
              <a:spcBef>
                <a:spcPct val="0"/>
              </a:spcBef>
            </a:pP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הוספת אות לטרנספורמציית הילברט שלו (כחלק הדמיוני) יוצרת אות מרוכב המאפשר ייצוג נוח ופשוט יותר של אותות "</a:t>
            </a:r>
            <a:r>
              <a:rPr lang="en-US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Band-pass</a:t>
            </a:r>
            <a:r>
              <a:rPr lang="ar-EG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" </a:t>
            </a:r>
          </a:p>
          <a:p>
            <a:pPr algn="r" rtl="true">
              <a:lnSpc>
                <a:spcPts val="41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53246" y="5143500"/>
            <a:ext cx="16006054" cy="2120405"/>
            <a:chOff x="0" y="0"/>
            <a:chExt cx="4215586" cy="558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15586" cy="558461"/>
            </a:xfrm>
            <a:custGeom>
              <a:avLst/>
              <a:gdLst/>
              <a:ahLst/>
              <a:cxnLst/>
              <a:rect r="r" b="b" t="t" l="l"/>
              <a:pathLst>
                <a:path h="558461" w="4215586">
                  <a:moveTo>
                    <a:pt x="14511" y="0"/>
                  </a:moveTo>
                  <a:lnTo>
                    <a:pt x="4201075" y="0"/>
                  </a:lnTo>
                  <a:cubicBezTo>
                    <a:pt x="4204924" y="0"/>
                    <a:pt x="4208615" y="1529"/>
                    <a:pt x="4211336" y="4250"/>
                  </a:cubicBezTo>
                  <a:cubicBezTo>
                    <a:pt x="4214057" y="6971"/>
                    <a:pt x="4215586" y="10662"/>
                    <a:pt x="4215586" y="14511"/>
                  </a:cubicBezTo>
                  <a:lnTo>
                    <a:pt x="4215586" y="543950"/>
                  </a:lnTo>
                  <a:cubicBezTo>
                    <a:pt x="4215586" y="551964"/>
                    <a:pt x="4209090" y="558461"/>
                    <a:pt x="4201075" y="558461"/>
                  </a:cubicBezTo>
                  <a:lnTo>
                    <a:pt x="14511" y="558461"/>
                  </a:lnTo>
                  <a:cubicBezTo>
                    <a:pt x="10662" y="558461"/>
                    <a:pt x="6971" y="556932"/>
                    <a:pt x="4250" y="554211"/>
                  </a:cubicBezTo>
                  <a:cubicBezTo>
                    <a:pt x="1529" y="551489"/>
                    <a:pt x="0" y="547799"/>
                    <a:pt x="0" y="543950"/>
                  </a:cubicBezTo>
                  <a:lnTo>
                    <a:pt x="0" y="14511"/>
                  </a:lnTo>
                  <a:cubicBezTo>
                    <a:pt x="0" y="6497"/>
                    <a:pt x="6497" y="0"/>
                    <a:pt x="145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4215586" cy="52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20866" y="5652541"/>
            <a:ext cx="15168365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199"/>
              </a:lnSpc>
            </a:pP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מודולציות</a:t>
            </a:r>
          </a:p>
          <a:p>
            <a:pPr algn="ctr" rtl="true">
              <a:lnSpc>
                <a:spcPts val="4199"/>
              </a:lnSpc>
              <a:spcBef>
                <a:spcPct val="0"/>
              </a:spcBef>
            </a:pP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הכרחית במימוש שי</a:t>
            </a: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טות אפנון כמו </a:t>
            </a:r>
            <a:r>
              <a:rPr lang="en-US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</a:rPr>
              <a:t>SSB</a:t>
            </a: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, המאפשרות העברת מידע ברוחב פס יעיל יותר</a:t>
            </a:r>
          </a:p>
          <a:p>
            <a:pPr algn="ctr" rtl="true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53246" y="7566025"/>
            <a:ext cx="16006054" cy="1958975"/>
            <a:chOff x="0" y="0"/>
            <a:chExt cx="4215586" cy="515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5586" cy="515944"/>
            </a:xfrm>
            <a:custGeom>
              <a:avLst/>
              <a:gdLst/>
              <a:ahLst/>
              <a:cxnLst/>
              <a:rect r="r" b="b" t="t" l="l"/>
              <a:pathLst>
                <a:path h="515944" w="4215586">
                  <a:moveTo>
                    <a:pt x="14511" y="0"/>
                  </a:moveTo>
                  <a:lnTo>
                    <a:pt x="4201075" y="0"/>
                  </a:lnTo>
                  <a:cubicBezTo>
                    <a:pt x="4204924" y="0"/>
                    <a:pt x="4208615" y="1529"/>
                    <a:pt x="4211336" y="4250"/>
                  </a:cubicBezTo>
                  <a:cubicBezTo>
                    <a:pt x="4214057" y="6971"/>
                    <a:pt x="4215586" y="10662"/>
                    <a:pt x="4215586" y="14511"/>
                  </a:cubicBezTo>
                  <a:lnTo>
                    <a:pt x="4215586" y="501434"/>
                  </a:lnTo>
                  <a:cubicBezTo>
                    <a:pt x="4215586" y="509448"/>
                    <a:pt x="4209090" y="515944"/>
                    <a:pt x="4201075" y="515944"/>
                  </a:cubicBezTo>
                  <a:lnTo>
                    <a:pt x="14511" y="515944"/>
                  </a:lnTo>
                  <a:cubicBezTo>
                    <a:pt x="10662" y="515944"/>
                    <a:pt x="6971" y="514415"/>
                    <a:pt x="4250" y="511694"/>
                  </a:cubicBezTo>
                  <a:cubicBezTo>
                    <a:pt x="1529" y="508973"/>
                    <a:pt x="0" y="505282"/>
                    <a:pt x="0" y="501434"/>
                  </a:cubicBezTo>
                  <a:lnTo>
                    <a:pt x="0" y="14511"/>
                  </a:lnTo>
                  <a:cubicBezTo>
                    <a:pt x="0" y="6497"/>
                    <a:pt x="6497" y="0"/>
                    <a:pt x="145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4215586" cy="477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46725" y="7835405"/>
            <a:ext cx="14819096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199"/>
              </a:lnSpc>
            </a:pP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חישוב מאפיינים רגעיים</a:t>
            </a:r>
          </a:p>
          <a:p>
            <a:pPr algn="ctr" rtl="true">
              <a:lnSpc>
                <a:spcPts val="4199"/>
              </a:lnSpc>
              <a:spcBef>
                <a:spcPct val="0"/>
              </a:spcBef>
            </a:pP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מאפשרת להגדיר בצורה מתמ</a:t>
            </a:r>
            <a:r>
              <a:rPr lang="he-IL" sz="34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טית את ה"אמפליטודה הרגעית" וה"פאזה הרגעית" של אות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987206"/>
            <a:ext cx="16002000" cy="6537794"/>
            <a:chOff x="0" y="0"/>
            <a:chExt cx="4214519" cy="17218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4518" cy="1721888"/>
            </a:xfrm>
            <a:custGeom>
              <a:avLst/>
              <a:gdLst/>
              <a:ahLst/>
              <a:cxnLst/>
              <a:rect r="r" b="b" t="t" l="l"/>
              <a:pathLst>
                <a:path h="1721888" w="4214518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1709793"/>
                  </a:lnTo>
                  <a:cubicBezTo>
                    <a:pt x="4214518" y="1716473"/>
                    <a:pt x="4209103" y="1721888"/>
                    <a:pt x="4202423" y="1721888"/>
                  </a:cubicBezTo>
                  <a:lnTo>
                    <a:pt x="12095" y="1721888"/>
                  </a:lnTo>
                  <a:cubicBezTo>
                    <a:pt x="8887" y="1721888"/>
                    <a:pt x="5811" y="1720614"/>
                    <a:pt x="3543" y="1718346"/>
                  </a:cubicBezTo>
                  <a:cubicBezTo>
                    <a:pt x="1274" y="1716077"/>
                    <a:pt x="0" y="1713001"/>
                    <a:pt x="0" y="1709793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214519" cy="1721888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2710121"/>
            <a:ext cx="4572000" cy="4319272"/>
            <a:chOff x="0" y="0"/>
            <a:chExt cx="1226447" cy="11586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6447" cy="1158652"/>
            </a:xfrm>
            <a:custGeom>
              <a:avLst/>
              <a:gdLst/>
              <a:ahLst/>
              <a:cxnLst/>
              <a:rect r="r" b="b" t="t" l="l"/>
              <a:pathLst>
                <a:path h="1158652" w="1226447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116319"/>
                  </a:lnTo>
                  <a:cubicBezTo>
                    <a:pt x="1226447" y="1127547"/>
                    <a:pt x="1221987" y="1138314"/>
                    <a:pt x="1214048" y="1146253"/>
                  </a:cubicBezTo>
                  <a:cubicBezTo>
                    <a:pt x="1206109" y="1154192"/>
                    <a:pt x="1195341" y="1158652"/>
                    <a:pt x="1184114" y="1158652"/>
                  </a:cubicBezTo>
                  <a:lnTo>
                    <a:pt x="42333" y="1158652"/>
                  </a:lnTo>
                  <a:cubicBezTo>
                    <a:pt x="31106" y="1158652"/>
                    <a:pt x="20338" y="1154192"/>
                    <a:pt x="12399" y="1146253"/>
                  </a:cubicBezTo>
                  <a:cubicBezTo>
                    <a:pt x="4460" y="1138314"/>
                    <a:pt x="0" y="1127547"/>
                    <a:pt x="0" y="111631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226447" cy="112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5000" y="2710121"/>
            <a:ext cx="4572000" cy="4319272"/>
            <a:chOff x="0" y="0"/>
            <a:chExt cx="1226447" cy="11586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6447" cy="1158652"/>
            </a:xfrm>
            <a:custGeom>
              <a:avLst/>
              <a:gdLst/>
              <a:ahLst/>
              <a:cxnLst/>
              <a:rect r="r" b="b" t="t" l="l"/>
              <a:pathLst>
                <a:path h="1158652" w="1226447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116319"/>
                  </a:lnTo>
                  <a:cubicBezTo>
                    <a:pt x="1226447" y="1127547"/>
                    <a:pt x="1221987" y="1138314"/>
                    <a:pt x="1214048" y="1146253"/>
                  </a:cubicBezTo>
                  <a:cubicBezTo>
                    <a:pt x="1206109" y="1154192"/>
                    <a:pt x="1195341" y="1158652"/>
                    <a:pt x="1184114" y="1158652"/>
                  </a:cubicBezTo>
                  <a:lnTo>
                    <a:pt x="42333" y="1158652"/>
                  </a:lnTo>
                  <a:cubicBezTo>
                    <a:pt x="31106" y="1158652"/>
                    <a:pt x="20338" y="1154192"/>
                    <a:pt x="12399" y="1146253"/>
                  </a:cubicBezTo>
                  <a:cubicBezTo>
                    <a:pt x="4460" y="1138314"/>
                    <a:pt x="0" y="1127547"/>
                    <a:pt x="0" y="111631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1226447" cy="112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11000" y="2710121"/>
            <a:ext cx="4572000" cy="4319272"/>
            <a:chOff x="0" y="0"/>
            <a:chExt cx="1226447" cy="11586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6447" cy="1158652"/>
            </a:xfrm>
            <a:custGeom>
              <a:avLst/>
              <a:gdLst/>
              <a:ahLst/>
              <a:cxnLst/>
              <a:rect r="r" b="b" t="t" l="l"/>
              <a:pathLst>
                <a:path h="1158652" w="1226447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116319"/>
                  </a:lnTo>
                  <a:cubicBezTo>
                    <a:pt x="1226447" y="1127547"/>
                    <a:pt x="1221987" y="1138314"/>
                    <a:pt x="1214048" y="1146253"/>
                  </a:cubicBezTo>
                  <a:cubicBezTo>
                    <a:pt x="1206109" y="1154192"/>
                    <a:pt x="1195341" y="1158652"/>
                    <a:pt x="1184114" y="1158652"/>
                  </a:cubicBezTo>
                  <a:lnTo>
                    <a:pt x="42333" y="1158652"/>
                  </a:lnTo>
                  <a:cubicBezTo>
                    <a:pt x="31106" y="1158652"/>
                    <a:pt x="20338" y="1154192"/>
                    <a:pt x="12399" y="1146253"/>
                  </a:cubicBezTo>
                  <a:cubicBezTo>
                    <a:pt x="4460" y="1138314"/>
                    <a:pt x="0" y="1127547"/>
                    <a:pt x="0" y="111631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226447" cy="112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0" y="7272163"/>
            <a:ext cx="4572000" cy="1775778"/>
            <a:chOff x="0" y="0"/>
            <a:chExt cx="1204148" cy="4676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4148" cy="467695"/>
            </a:xfrm>
            <a:custGeom>
              <a:avLst/>
              <a:gdLst/>
              <a:ahLst/>
              <a:cxnLst/>
              <a:rect r="r" b="b" t="t" l="l"/>
              <a:pathLst>
                <a:path h="467695" w="1204148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425361"/>
                  </a:lnTo>
                  <a:cubicBezTo>
                    <a:pt x="1204148" y="436589"/>
                    <a:pt x="1199688" y="447356"/>
                    <a:pt x="1191749" y="455295"/>
                  </a:cubicBezTo>
                  <a:cubicBezTo>
                    <a:pt x="1183810" y="463234"/>
                    <a:pt x="1173042" y="467695"/>
                    <a:pt x="1161815" y="467695"/>
                  </a:cubicBezTo>
                  <a:lnTo>
                    <a:pt x="42333" y="467695"/>
                  </a:lnTo>
                  <a:cubicBezTo>
                    <a:pt x="31106" y="467695"/>
                    <a:pt x="20338" y="463234"/>
                    <a:pt x="12399" y="455295"/>
                  </a:cubicBezTo>
                  <a:cubicBezTo>
                    <a:pt x="4460" y="447356"/>
                    <a:pt x="0" y="436589"/>
                    <a:pt x="0" y="425361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204148" cy="467695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>
                <a:lnSpc>
                  <a:spcPts val="3000"/>
                </a:lnSpc>
              </a:pPr>
            </a:p>
            <a:p>
              <a:pPr algn="ctr" rtl="true">
                <a:lnSpc>
                  <a:spcPts val="3000"/>
                </a:lnSpc>
              </a:pPr>
              <a:r>
                <a:rPr lang="he-IL" sz="2500">
                  <a:solidFill>
                    <a:srgbClr val="4066AB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ג</a:t>
              </a:r>
              <a:r>
                <a:rPr lang="he-IL" sz="2500">
                  <a:solidFill>
                    <a:srgbClr val="4066AB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ל ריבועי</a:t>
              </a:r>
              <a:r>
                <a:rPr lang="he-IL" sz="2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 ו</a:t>
              </a:r>
              <a:r>
                <a:rPr lang="he-IL" sz="2500">
                  <a:solidFill>
                    <a:srgbClr val="EF4A4A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התמרת הילברט של גל ריבועי</a:t>
              </a:r>
            </a:p>
            <a:p>
              <a:pPr algn="ctr" rtl="true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11000" y="7272163"/>
            <a:ext cx="4572000" cy="1838758"/>
            <a:chOff x="0" y="0"/>
            <a:chExt cx="1204148" cy="484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4148" cy="484282"/>
            </a:xfrm>
            <a:custGeom>
              <a:avLst/>
              <a:gdLst/>
              <a:ahLst/>
              <a:cxnLst/>
              <a:rect r="r" b="b" t="t" l="l"/>
              <a:pathLst>
                <a:path h="484282" w="1204148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441949"/>
                  </a:lnTo>
                  <a:cubicBezTo>
                    <a:pt x="1204148" y="453176"/>
                    <a:pt x="1199688" y="463944"/>
                    <a:pt x="1191749" y="471883"/>
                  </a:cubicBezTo>
                  <a:cubicBezTo>
                    <a:pt x="1183810" y="479822"/>
                    <a:pt x="1173042" y="484282"/>
                    <a:pt x="1161815" y="484282"/>
                  </a:cubicBezTo>
                  <a:lnTo>
                    <a:pt x="42333" y="484282"/>
                  </a:lnTo>
                  <a:cubicBezTo>
                    <a:pt x="31106" y="484282"/>
                    <a:pt x="20338" y="479822"/>
                    <a:pt x="12399" y="471883"/>
                  </a:cubicBezTo>
                  <a:cubicBezTo>
                    <a:pt x="4460" y="463944"/>
                    <a:pt x="0" y="453176"/>
                    <a:pt x="0" y="44194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04148" cy="484282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96500" y="762000"/>
            <a:ext cx="7048500" cy="1143000"/>
            <a:chOff x="0" y="0"/>
            <a:chExt cx="1856395" cy="3010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6395" cy="301037"/>
            </a:xfrm>
            <a:custGeom>
              <a:avLst/>
              <a:gdLst/>
              <a:ahLst/>
              <a:cxnLst/>
              <a:rect r="r" b="b" t="t" l="l"/>
              <a:pathLst>
                <a:path h="301037" w="1856395">
                  <a:moveTo>
                    <a:pt x="27459" y="0"/>
                  </a:moveTo>
                  <a:lnTo>
                    <a:pt x="1828936" y="0"/>
                  </a:lnTo>
                  <a:cubicBezTo>
                    <a:pt x="1844101" y="0"/>
                    <a:pt x="1856395" y="12294"/>
                    <a:pt x="1856395" y="27459"/>
                  </a:cubicBezTo>
                  <a:lnTo>
                    <a:pt x="1856395" y="273578"/>
                  </a:lnTo>
                  <a:cubicBezTo>
                    <a:pt x="1856395" y="280860"/>
                    <a:pt x="1853502" y="287845"/>
                    <a:pt x="1848352" y="292994"/>
                  </a:cubicBezTo>
                  <a:cubicBezTo>
                    <a:pt x="1843203" y="298144"/>
                    <a:pt x="1836218" y="301037"/>
                    <a:pt x="1828936" y="301037"/>
                  </a:cubicBezTo>
                  <a:lnTo>
                    <a:pt x="27459" y="301037"/>
                  </a:lnTo>
                  <a:cubicBezTo>
                    <a:pt x="20177" y="301037"/>
                    <a:pt x="13192" y="298144"/>
                    <a:pt x="8043" y="292994"/>
                  </a:cubicBezTo>
                  <a:cubicBezTo>
                    <a:pt x="2893" y="287845"/>
                    <a:pt x="0" y="280860"/>
                    <a:pt x="0" y="273578"/>
                  </a:cubicBezTo>
                  <a:lnTo>
                    <a:pt x="0" y="27459"/>
                  </a:lnTo>
                  <a:cubicBezTo>
                    <a:pt x="0" y="20177"/>
                    <a:pt x="2893" y="13192"/>
                    <a:pt x="8043" y="8043"/>
                  </a:cubicBezTo>
                  <a:cubicBezTo>
                    <a:pt x="13192" y="2893"/>
                    <a:pt x="20177" y="0"/>
                    <a:pt x="27459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56395" cy="30103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30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928112" y="3346335"/>
            <a:ext cx="4431775" cy="3046845"/>
          </a:xfrm>
          <a:custGeom>
            <a:avLst/>
            <a:gdLst/>
            <a:ahLst/>
            <a:cxnLst/>
            <a:rect r="r" b="b" t="t" l="l"/>
            <a:pathLst>
              <a:path h="3046845" w="4431775">
                <a:moveTo>
                  <a:pt x="0" y="0"/>
                </a:moveTo>
                <a:lnTo>
                  <a:pt x="4431776" y="0"/>
                </a:lnTo>
                <a:lnTo>
                  <a:pt x="4431776" y="3046845"/>
                </a:lnTo>
                <a:lnTo>
                  <a:pt x="0" y="3046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95361" y="949033"/>
            <a:ext cx="6650778" cy="768934"/>
          </a:xfrm>
          <a:custGeom>
            <a:avLst/>
            <a:gdLst/>
            <a:ahLst/>
            <a:cxnLst/>
            <a:rect r="r" b="b" t="t" l="l"/>
            <a:pathLst>
              <a:path h="768934" w="6650778">
                <a:moveTo>
                  <a:pt x="0" y="0"/>
                </a:moveTo>
                <a:lnTo>
                  <a:pt x="6650778" y="0"/>
                </a:lnTo>
                <a:lnTo>
                  <a:pt x="6650778" y="768934"/>
                </a:lnTo>
                <a:lnTo>
                  <a:pt x="0" y="76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811000" y="7685615"/>
            <a:ext cx="4525751" cy="1011855"/>
          </a:xfrm>
          <a:custGeom>
            <a:avLst/>
            <a:gdLst/>
            <a:ahLst/>
            <a:cxnLst/>
            <a:rect r="r" b="b" t="t" l="l"/>
            <a:pathLst>
              <a:path h="1011855" w="4525751">
                <a:moveTo>
                  <a:pt x="0" y="0"/>
                </a:moveTo>
                <a:lnTo>
                  <a:pt x="4525751" y="0"/>
                </a:lnTo>
                <a:lnTo>
                  <a:pt x="4525751" y="1011855"/>
                </a:lnTo>
                <a:lnTo>
                  <a:pt x="0" y="1011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43000" y="638175"/>
            <a:ext cx="8382000" cy="215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Hilberts transform</a:t>
            </a:r>
          </a:p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HOW?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94663" y="3521782"/>
            <a:ext cx="3997837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00"/>
              </a:lnSpc>
              <a:spcBef>
                <a:spcPct val="0"/>
              </a:spcBef>
            </a:pPr>
            <a:r>
              <a:rPr lang="ar-EG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 </a:t>
            </a:r>
            <a:r>
              <a:rPr lang="he-IL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קונבולוציה של הפונ</a:t>
            </a:r>
            <a:r>
              <a:rPr lang="he-IL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קציה </a:t>
            </a:r>
            <a:r>
              <a:rPr lang="en-US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</a:rPr>
              <a:t>u(t)</a:t>
            </a:r>
            <a:r>
              <a:rPr lang="he-IL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 עם הפונקציה </a:t>
            </a:r>
            <a:r>
              <a:rPr lang="en-US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</a:rPr>
              <a:t>h(t)=1/(πt)</a:t>
            </a:r>
            <a:r>
              <a:rPr lang="ar-EG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905000" y="7272163"/>
            <a:ext cx="4572000" cy="1838758"/>
            <a:chOff x="0" y="0"/>
            <a:chExt cx="1204148" cy="4842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4148" cy="484282"/>
            </a:xfrm>
            <a:custGeom>
              <a:avLst/>
              <a:gdLst/>
              <a:ahLst/>
              <a:cxnLst/>
              <a:rect r="r" b="b" t="t" l="l"/>
              <a:pathLst>
                <a:path h="484282" w="1204148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441949"/>
                  </a:lnTo>
                  <a:cubicBezTo>
                    <a:pt x="1204148" y="453176"/>
                    <a:pt x="1199688" y="463944"/>
                    <a:pt x="1191749" y="471883"/>
                  </a:cubicBezTo>
                  <a:cubicBezTo>
                    <a:pt x="1183810" y="479822"/>
                    <a:pt x="1173042" y="484282"/>
                    <a:pt x="1161815" y="484282"/>
                  </a:cubicBezTo>
                  <a:lnTo>
                    <a:pt x="42333" y="484282"/>
                  </a:lnTo>
                  <a:cubicBezTo>
                    <a:pt x="31106" y="484282"/>
                    <a:pt x="20338" y="479822"/>
                    <a:pt x="12399" y="471883"/>
                  </a:cubicBezTo>
                  <a:cubicBezTo>
                    <a:pt x="4460" y="463944"/>
                    <a:pt x="0" y="453176"/>
                    <a:pt x="0" y="44194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204148" cy="484282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30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05000" y="7915218"/>
            <a:ext cx="4572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719"/>
              </a:lnSpc>
              <a:spcBef>
                <a:spcPct val="0"/>
              </a:spcBef>
            </a:pPr>
            <a:r>
              <a:rPr lang="he-IL" sz="30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ממישור </a:t>
            </a:r>
            <a:r>
              <a:rPr lang="he-IL" sz="3099">
                <a:solidFill>
                  <a:srgbClr val="2983E5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הזמן </a:t>
            </a:r>
            <a:r>
              <a:rPr lang="he-IL" sz="3099">
                <a:solidFill>
                  <a:srgbClr val="000001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למישור </a:t>
            </a:r>
            <a:r>
              <a:rPr lang="he-IL" sz="3099">
                <a:solidFill>
                  <a:srgbClr val="2983E5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הזמן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08350" y="3699582"/>
            <a:ext cx="4165301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00"/>
              </a:lnSpc>
              <a:spcBef>
                <a:spcPct val="0"/>
              </a:spcBef>
            </a:pPr>
            <a:r>
              <a:rPr lang="he-IL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מסובבת את המופע של רכיבי התדר החיוביים ב־−</a:t>
            </a:r>
            <a:r>
              <a:rPr lang="en-US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</a:rPr>
              <a:t>90</a:t>
            </a:r>
            <a:r>
              <a:rPr lang="he-IL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∘ ואת המופע של רכיבי התדר השליליים ב-</a:t>
            </a:r>
            <a:r>
              <a:rPr lang="en-US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</a:rPr>
              <a:t>90</a:t>
            </a:r>
            <a:r>
              <a:rPr lang="ar-EG" sz="3500">
                <a:solidFill>
                  <a:srgbClr val="000000"/>
                </a:solidFill>
                <a:latin typeface="Miriam Libre"/>
                <a:ea typeface="Miriam Libre"/>
                <a:cs typeface="Miriam Libre"/>
                <a:sym typeface="Miriam Libre"/>
                <a:rtl val="true"/>
              </a:rPr>
              <a:t>∘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847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143000"/>
            <a:ext cx="16002000" cy="8382000"/>
            <a:chOff x="0" y="0"/>
            <a:chExt cx="4214519" cy="2207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4518" cy="2207605"/>
            </a:xfrm>
            <a:custGeom>
              <a:avLst/>
              <a:gdLst/>
              <a:ahLst/>
              <a:cxnLst/>
              <a:rect r="r" b="b" t="t" l="l"/>
              <a:pathLst>
                <a:path h="2207605" w="4214518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2195510"/>
                  </a:lnTo>
                  <a:cubicBezTo>
                    <a:pt x="4214518" y="2198718"/>
                    <a:pt x="4213244" y="2201794"/>
                    <a:pt x="4210976" y="2204062"/>
                  </a:cubicBezTo>
                  <a:cubicBezTo>
                    <a:pt x="4208707" y="2206331"/>
                    <a:pt x="4205631" y="2207605"/>
                    <a:pt x="4202423" y="2207605"/>
                  </a:cubicBezTo>
                  <a:lnTo>
                    <a:pt x="12095" y="2207605"/>
                  </a:lnTo>
                  <a:cubicBezTo>
                    <a:pt x="8887" y="2207605"/>
                    <a:pt x="5811" y="2206331"/>
                    <a:pt x="3543" y="2204062"/>
                  </a:cubicBezTo>
                  <a:cubicBezTo>
                    <a:pt x="1274" y="2201794"/>
                    <a:pt x="0" y="2198718"/>
                    <a:pt x="0" y="2195510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4519" cy="2245705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4500" y="762000"/>
            <a:ext cx="7239000" cy="2205355"/>
            <a:chOff x="0" y="0"/>
            <a:chExt cx="1906568" cy="580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6568" cy="580834"/>
            </a:xfrm>
            <a:custGeom>
              <a:avLst/>
              <a:gdLst/>
              <a:ahLst/>
              <a:cxnLst/>
              <a:rect r="r" b="b" t="t" l="l"/>
              <a:pathLst>
                <a:path h="580834" w="1906568">
                  <a:moveTo>
                    <a:pt x="26737" y="0"/>
                  </a:moveTo>
                  <a:lnTo>
                    <a:pt x="1879831" y="0"/>
                  </a:lnTo>
                  <a:cubicBezTo>
                    <a:pt x="1894598" y="0"/>
                    <a:pt x="1906568" y="11970"/>
                    <a:pt x="1906568" y="26737"/>
                  </a:cubicBezTo>
                  <a:lnTo>
                    <a:pt x="1906568" y="554097"/>
                  </a:lnTo>
                  <a:cubicBezTo>
                    <a:pt x="1906568" y="568864"/>
                    <a:pt x="1894598" y="580834"/>
                    <a:pt x="1879831" y="580834"/>
                  </a:cubicBezTo>
                  <a:lnTo>
                    <a:pt x="26737" y="580834"/>
                  </a:lnTo>
                  <a:cubicBezTo>
                    <a:pt x="11970" y="580834"/>
                    <a:pt x="0" y="568864"/>
                    <a:pt x="0" y="554097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906568" cy="68560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0" indent="0" lvl="0">
                <a:lnSpc>
                  <a:spcPts val="6050"/>
                </a:lnSpc>
              </a:pPr>
              <a:r>
                <a:rPr lang="en-US" b="true" sz="550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Hilb</a:t>
              </a:r>
              <a:r>
                <a:rPr lang="en-US" b="true" sz="550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ert Space</a:t>
              </a:r>
            </a:p>
            <a:p>
              <a:pPr algn="l" marL="0" indent="0" lvl="0">
                <a:lnSpc>
                  <a:spcPts val="6050"/>
                </a:lnSpc>
              </a:pPr>
              <a:r>
                <a:rPr lang="en-US" b="true" sz="5500">
                  <a:solidFill>
                    <a:srgbClr val="000001"/>
                  </a:solidFill>
                  <a:latin typeface="Miriam Libre Bold"/>
                  <a:ea typeface="Miriam Libre Bold"/>
                  <a:cs typeface="Miriam Libre Bold"/>
                  <a:sym typeface="Miriam Libre Bold"/>
                </a:rPr>
                <a:t>WHY?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34500" y="762000"/>
            <a:ext cx="7239000" cy="2274634"/>
            <a:chOff x="0" y="0"/>
            <a:chExt cx="1906568" cy="5990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6568" cy="599081"/>
            </a:xfrm>
            <a:custGeom>
              <a:avLst/>
              <a:gdLst/>
              <a:ahLst/>
              <a:cxnLst/>
              <a:rect r="r" b="b" t="t" l="l"/>
              <a:pathLst>
                <a:path h="599081" w="1906568">
                  <a:moveTo>
                    <a:pt x="26737" y="0"/>
                  </a:moveTo>
                  <a:lnTo>
                    <a:pt x="1879831" y="0"/>
                  </a:lnTo>
                  <a:cubicBezTo>
                    <a:pt x="1894598" y="0"/>
                    <a:pt x="1906568" y="11970"/>
                    <a:pt x="1906568" y="26737"/>
                  </a:cubicBezTo>
                  <a:lnTo>
                    <a:pt x="1906568" y="572344"/>
                  </a:lnTo>
                  <a:cubicBezTo>
                    <a:pt x="1906568" y="579435"/>
                    <a:pt x="1903751" y="586235"/>
                    <a:pt x="1898737" y="591249"/>
                  </a:cubicBezTo>
                  <a:cubicBezTo>
                    <a:pt x="1893723" y="596264"/>
                    <a:pt x="1886922" y="599081"/>
                    <a:pt x="1879831" y="599081"/>
                  </a:cubicBezTo>
                  <a:lnTo>
                    <a:pt x="26737" y="599081"/>
                  </a:lnTo>
                  <a:cubicBezTo>
                    <a:pt x="11970" y="599081"/>
                    <a:pt x="0" y="587110"/>
                    <a:pt x="0" y="572344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6568" cy="6371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rtl="true" marL="0" indent="0" lvl="0">
                <a:lnSpc>
                  <a:spcPts val="4940"/>
                </a:lnSpc>
              </a:pPr>
              <a:r>
                <a:rPr lang="he-IL" sz="3800">
                  <a:solidFill>
                    <a:srgbClr val="000000"/>
                  </a:solidFill>
                  <a:latin typeface="Gveret Levin"/>
                  <a:ea typeface="Gveret Levin"/>
                  <a:cs typeface="Gveret Levin"/>
                  <a:sym typeface="Gveret Levin"/>
                  <a:rtl val="true"/>
                </a:rPr>
                <a:t>אורתוגונליות של אותות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69716" y="4275095"/>
            <a:ext cx="3832396" cy="1390079"/>
            <a:chOff x="0" y="0"/>
            <a:chExt cx="1009355" cy="36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355" cy="366111"/>
            </a:xfrm>
            <a:custGeom>
              <a:avLst/>
              <a:gdLst/>
              <a:ahLst/>
              <a:cxnLst/>
              <a:rect r="r" b="b" t="t" l="l"/>
              <a:pathLst>
                <a:path h="366111" w="1009355">
                  <a:moveTo>
                    <a:pt x="50503" y="0"/>
                  </a:moveTo>
                  <a:lnTo>
                    <a:pt x="958852" y="0"/>
                  </a:lnTo>
                  <a:cubicBezTo>
                    <a:pt x="972246" y="0"/>
                    <a:pt x="985092" y="5321"/>
                    <a:pt x="994563" y="14792"/>
                  </a:cubicBezTo>
                  <a:cubicBezTo>
                    <a:pt x="1004034" y="24263"/>
                    <a:pt x="1009355" y="37109"/>
                    <a:pt x="1009355" y="50503"/>
                  </a:cubicBezTo>
                  <a:lnTo>
                    <a:pt x="1009355" y="315608"/>
                  </a:lnTo>
                  <a:cubicBezTo>
                    <a:pt x="1009355" y="329002"/>
                    <a:pt x="1004034" y="341848"/>
                    <a:pt x="994563" y="351319"/>
                  </a:cubicBezTo>
                  <a:cubicBezTo>
                    <a:pt x="985092" y="360790"/>
                    <a:pt x="972246" y="366111"/>
                    <a:pt x="958852" y="366111"/>
                  </a:cubicBezTo>
                  <a:lnTo>
                    <a:pt x="50503" y="366111"/>
                  </a:lnTo>
                  <a:cubicBezTo>
                    <a:pt x="37109" y="366111"/>
                    <a:pt x="24263" y="360790"/>
                    <a:pt x="14792" y="351319"/>
                  </a:cubicBezTo>
                  <a:cubicBezTo>
                    <a:pt x="5321" y="341848"/>
                    <a:pt x="0" y="329002"/>
                    <a:pt x="0" y="315608"/>
                  </a:cubicBezTo>
                  <a:lnTo>
                    <a:pt x="0" y="50503"/>
                  </a:lnTo>
                  <a:cubicBezTo>
                    <a:pt x="0" y="37109"/>
                    <a:pt x="5321" y="24263"/>
                    <a:pt x="14792" y="14792"/>
                  </a:cubicBezTo>
                  <a:cubicBezTo>
                    <a:pt x="24263" y="5321"/>
                    <a:pt x="37109" y="0"/>
                    <a:pt x="50503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09355" cy="39468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</a:rPr>
                <a:t> </a:t>
              </a: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מדידת האנרגיה של אות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27802" y="4275095"/>
            <a:ext cx="3832396" cy="1478251"/>
            <a:chOff x="0" y="0"/>
            <a:chExt cx="1009355" cy="3893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9355" cy="389334"/>
            </a:xfrm>
            <a:custGeom>
              <a:avLst/>
              <a:gdLst/>
              <a:ahLst/>
              <a:cxnLst/>
              <a:rect r="r" b="b" t="t" l="l"/>
              <a:pathLst>
                <a:path h="389334" w="1009355">
                  <a:moveTo>
                    <a:pt x="50503" y="0"/>
                  </a:moveTo>
                  <a:lnTo>
                    <a:pt x="958852" y="0"/>
                  </a:lnTo>
                  <a:cubicBezTo>
                    <a:pt x="972246" y="0"/>
                    <a:pt x="985092" y="5321"/>
                    <a:pt x="994563" y="14792"/>
                  </a:cubicBezTo>
                  <a:cubicBezTo>
                    <a:pt x="1004034" y="24263"/>
                    <a:pt x="1009355" y="37109"/>
                    <a:pt x="1009355" y="50503"/>
                  </a:cubicBezTo>
                  <a:lnTo>
                    <a:pt x="1009355" y="338831"/>
                  </a:lnTo>
                  <a:cubicBezTo>
                    <a:pt x="1009355" y="352225"/>
                    <a:pt x="1004034" y="365070"/>
                    <a:pt x="994563" y="374542"/>
                  </a:cubicBezTo>
                  <a:cubicBezTo>
                    <a:pt x="985092" y="384013"/>
                    <a:pt x="972246" y="389334"/>
                    <a:pt x="958852" y="389334"/>
                  </a:cubicBezTo>
                  <a:lnTo>
                    <a:pt x="50503" y="389334"/>
                  </a:lnTo>
                  <a:cubicBezTo>
                    <a:pt x="37109" y="389334"/>
                    <a:pt x="24263" y="384013"/>
                    <a:pt x="14792" y="374542"/>
                  </a:cubicBezTo>
                  <a:cubicBezTo>
                    <a:pt x="5321" y="365070"/>
                    <a:pt x="0" y="352225"/>
                    <a:pt x="0" y="338831"/>
                  </a:cubicBezTo>
                  <a:lnTo>
                    <a:pt x="0" y="50503"/>
                  </a:lnTo>
                  <a:cubicBezTo>
                    <a:pt x="0" y="37109"/>
                    <a:pt x="5321" y="24263"/>
                    <a:pt x="14792" y="14792"/>
                  </a:cubicBezTo>
                  <a:cubicBezTo>
                    <a:pt x="24263" y="5321"/>
                    <a:pt x="37109" y="0"/>
                    <a:pt x="50503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09355" cy="417909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50"/>
                </a:lnSpc>
              </a:pP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בסיס לנ</a:t>
              </a: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יתוח פורייה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85756" y="4275095"/>
            <a:ext cx="3832396" cy="1478251"/>
            <a:chOff x="0" y="0"/>
            <a:chExt cx="1009355" cy="3893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9355" cy="389334"/>
            </a:xfrm>
            <a:custGeom>
              <a:avLst/>
              <a:gdLst/>
              <a:ahLst/>
              <a:cxnLst/>
              <a:rect r="r" b="b" t="t" l="l"/>
              <a:pathLst>
                <a:path h="389334" w="1009355">
                  <a:moveTo>
                    <a:pt x="50503" y="0"/>
                  </a:moveTo>
                  <a:lnTo>
                    <a:pt x="958852" y="0"/>
                  </a:lnTo>
                  <a:cubicBezTo>
                    <a:pt x="972246" y="0"/>
                    <a:pt x="985092" y="5321"/>
                    <a:pt x="994563" y="14792"/>
                  </a:cubicBezTo>
                  <a:cubicBezTo>
                    <a:pt x="1004034" y="24263"/>
                    <a:pt x="1009355" y="37109"/>
                    <a:pt x="1009355" y="50503"/>
                  </a:cubicBezTo>
                  <a:lnTo>
                    <a:pt x="1009355" y="338831"/>
                  </a:lnTo>
                  <a:cubicBezTo>
                    <a:pt x="1009355" y="352225"/>
                    <a:pt x="1004034" y="365070"/>
                    <a:pt x="994563" y="374542"/>
                  </a:cubicBezTo>
                  <a:cubicBezTo>
                    <a:pt x="985092" y="384013"/>
                    <a:pt x="972246" y="389334"/>
                    <a:pt x="958852" y="389334"/>
                  </a:cubicBezTo>
                  <a:lnTo>
                    <a:pt x="50503" y="389334"/>
                  </a:lnTo>
                  <a:cubicBezTo>
                    <a:pt x="37109" y="389334"/>
                    <a:pt x="24263" y="384013"/>
                    <a:pt x="14792" y="374542"/>
                  </a:cubicBezTo>
                  <a:cubicBezTo>
                    <a:pt x="5321" y="365070"/>
                    <a:pt x="0" y="352225"/>
                    <a:pt x="0" y="338831"/>
                  </a:cubicBezTo>
                  <a:lnTo>
                    <a:pt x="0" y="50503"/>
                  </a:lnTo>
                  <a:cubicBezTo>
                    <a:pt x="0" y="37109"/>
                    <a:pt x="5321" y="24263"/>
                    <a:pt x="14792" y="14792"/>
                  </a:cubicBezTo>
                  <a:cubicBezTo>
                    <a:pt x="24263" y="5321"/>
                    <a:pt x="37109" y="0"/>
                    <a:pt x="50503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09355" cy="417909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4550"/>
                </a:lnSpc>
              </a:pP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דחיסת נתונים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69716" y="6114239"/>
            <a:ext cx="3832396" cy="1390079"/>
            <a:chOff x="0" y="0"/>
            <a:chExt cx="1009355" cy="366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9355" cy="366111"/>
            </a:xfrm>
            <a:custGeom>
              <a:avLst/>
              <a:gdLst/>
              <a:ahLst/>
              <a:cxnLst/>
              <a:rect r="r" b="b" t="t" l="l"/>
              <a:pathLst>
                <a:path h="366111" w="1009355">
                  <a:moveTo>
                    <a:pt x="50503" y="0"/>
                  </a:moveTo>
                  <a:lnTo>
                    <a:pt x="958852" y="0"/>
                  </a:lnTo>
                  <a:cubicBezTo>
                    <a:pt x="972246" y="0"/>
                    <a:pt x="985092" y="5321"/>
                    <a:pt x="994563" y="14792"/>
                  </a:cubicBezTo>
                  <a:cubicBezTo>
                    <a:pt x="1004034" y="24263"/>
                    <a:pt x="1009355" y="37109"/>
                    <a:pt x="1009355" y="50503"/>
                  </a:cubicBezTo>
                  <a:lnTo>
                    <a:pt x="1009355" y="315608"/>
                  </a:lnTo>
                  <a:cubicBezTo>
                    <a:pt x="1009355" y="329002"/>
                    <a:pt x="1004034" y="341848"/>
                    <a:pt x="994563" y="351319"/>
                  </a:cubicBezTo>
                  <a:cubicBezTo>
                    <a:pt x="985092" y="360790"/>
                    <a:pt x="972246" y="366111"/>
                    <a:pt x="958852" y="366111"/>
                  </a:cubicBezTo>
                  <a:lnTo>
                    <a:pt x="50503" y="366111"/>
                  </a:lnTo>
                  <a:cubicBezTo>
                    <a:pt x="37109" y="366111"/>
                    <a:pt x="24263" y="360790"/>
                    <a:pt x="14792" y="351319"/>
                  </a:cubicBezTo>
                  <a:cubicBezTo>
                    <a:pt x="5321" y="341848"/>
                    <a:pt x="0" y="329002"/>
                    <a:pt x="0" y="315608"/>
                  </a:cubicBezTo>
                  <a:lnTo>
                    <a:pt x="0" y="50503"/>
                  </a:lnTo>
                  <a:cubicBezTo>
                    <a:pt x="0" y="37109"/>
                    <a:pt x="5321" y="24263"/>
                    <a:pt x="14792" y="14792"/>
                  </a:cubicBezTo>
                  <a:cubicBezTo>
                    <a:pt x="24263" y="5321"/>
                    <a:pt x="37109" y="0"/>
                    <a:pt x="50503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09355" cy="39468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50"/>
                </a:lnSpc>
              </a:pP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ההטלה לנ</a:t>
              </a: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יקוי שגיאות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75295" y="6114239"/>
            <a:ext cx="3832396" cy="1390079"/>
            <a:chOff x="0" y="0"/>
            <a:chExt cx="1009355" cy="366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9355" cy="366111"/>
            </a:xfrm>
            <a:custGeom>
              <a:avLst/>
              <a:gdLst/>
              <a:ahLst/>
              <a:cxnLst/>
              <a:rect r="r" b="b" t="t" l="l"/>
              <a:pathLst>
                <a:path h="366111" w="1009355">
                  <a:moveTo>
                    <a:pt x="50503" y="0"/>
                  </a:moveTo>
                  <a:lnTo>
                    <a:pt x="958852" y="0"/>
                  </a:lnTo>
                  <a:cubicBezTo>
                    <a:pt x="972246" y="0"/>
                    <a:pt x="985092" y="5321"/>
                    <a:pt x="994563" y="14792"/>
                  </a:cubicBezTo>
                  <a:cubicBezTo>
                    <a:pt x="1004034" y="24263"/>
                    <a:pt x="1009355" y="37109"/>
                    <a:pt x="1009355" y="50503"/>
                  </a:cubicBezTo>
                  <a:lnTo>
                    <a:pt x="1009355" y="315608"/>
                  </a:lnTo>
                  <a:cubicBezTo>
                    <a:pt x="1009355" y="329002"/>
                    <a:pt x="1004034" y="341848"/>
                    <a:pt x="994563" y="351319"/>
                  </a:cubicBezTo>
                  <a:cubicBezTo>
                    <a:pt x="985092" y="360790"/>
                    <a:pt x="972246" y="366111"/>
                    <a:pt x="958852" y="366111"/>
                  </a:cubicBezTo>
                  <a:lnTo>
                    <a:pt x="50503" y="366111"/>
                  </a:lnTo>
                  <a:cubicBezTo>
                    <a:pt x="37109" y="366111"/>
                    <a:pt x="24263" y="360790"/>
                    <a:pt x="14792" y="351319"/>
                  </a:cubicBezTo>
                  <a:cubicBezTo>
                    <a:pt x="5321" y="341848"/>
                    <a:pt x="0" y="329002"/>
                    <a:pt x="0" y="315608"/>
                  </a:cubicBezTo>
                  <a:lnTo>
                    <a:pt x="0" y="50503"/>
                  </a:lnTo>
                  <a:cubicBezTo>
                    <a:pt x="0" y="37109"/>
                    <a:pt x="5321" y="24263"/>
                    <a:pt x="14792" y="14792"/>
                  </a:cubicBezTo>
                  <a:cubicBezTo>
                    <a:pt x="24263" y="5321"/>
                    <a:pt x="37109" y="0"/>
                    <a:pt x="50503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09355" cy="39468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</a:rPr>
                <a:t>Root-Raised</a:t>
              </a:r>
              <a:r>
                <a:rPr lang="en-US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</a:rPr>
                <a:t> Cosine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76500" y="6114239"/>
            <a:ext cx="3832396" cy="1390079"/>
            <a:chOff x="0" y="0"/>
            <a:chExt cx="1009355" cy="366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9355" cy="366111"/>
            </a:xfrm>
            <a:custGeom>
              <a:avLst/>
              <a:gdLst/>
              <a:ahLst/>
              <a:cxnLst/>
              <a:rect r="r" b="b" t="t" l="l"/>
              <a:pathLst>
                <a:path h="366111" w="1009355">
                  <a:moveTo>
                    <a:pt x="50503" y="0"/>
                  </a:moveTo>
                  <a:lnTo>
                    <a:pt x="958852" y="0"/>
                  </a:lnTo>
                  <a:cubicBezTo>
                    <a:pt x="972246" y="0"/>
                    <a:pt x="985092" y="5321"/>
                    <a:pt x="994563" y="14792"/>
                  </a:cubicBezTo>
                  <a:cubicBezTo>
                    <a:pt x="1004034" y="24263"/>
                    <a:pt x="1009355" y="37109"/>
                    <a:pt x="1009355" y="50503"/>
                  </a:cubicBezTo>
                  <a:lnTo>
                    <a:pt x="1009355" y="315608"/>
                  </a:lnTo>
                  <a:cubicBezTo>
                    <a:pt x="1009355" y="329002"/>
                    <a:pt x="1004034" y="341848"/>
                    <a:pt x="994563" y="351319"/>
                  </a:cubicBezTo>
                  <a:cubicBezTo>
                    <a:pt x="985092" y="360790"/>
                    <a:pt x="972246" y="366111"/>
                    <a:pt x="958852" y="366111"/>
                  </a:cubicBezTo>
                  <a:lnTo>
                    <a:pt x="50503" y="366111"/>
                  </a:lnTo>
                  <a:cubicBezTo>
                    <a:pt x="37109" y="366111"/>
                    <a:pt x="24263" y="360790"/>
                    <a:pt x="14792" y="351319"/>
                  </a:cubicBezTo>
                  <a:cubicBezTo>
                    <a:pt x="5321" y="341848"/>
                    <a:pt x="0" y="329002"/>
                    <a:pt x="0" y="315608"/>
                  </a:cubicBezTo>
                  <a:lnTo>
                    <a:pt x="0" y="50503"/>
                  </a:lnTo>
                  <a:cubicBezTo>
                    <a:pt x="0" y="37109"/>
                    <a:pt x="5321" y="24263"/>
                    <a:pt x="14792" y="14792"/>
                  </a:cubicBezTo>
                  <a:cubicBezTo>
                    <a:pt x="24263" y="5321"/>
                    <a:pt x="37109" y="0"/>
                    <a:pt x="50503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09355" cy="39468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50"/>
                </a:lnSpc>
              </a:pP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מפות קונסטלצ</a:t>
              </a:r>
              <a:r>
                <a:rPr lang="he-IL" sz="3500">
                  <a:solidFill>
                    <a:srgbClr val="000001"/>
                  </a:solidFill>
                  <a:latin typeface="Miriam Libre"/>
                  <a:ea typeface="Miriam Libre"/>
                  <a:cs typeface="Miriam Libre"/>
                  <a:sym typeface="Miriam Libre"/>
                  <a:rtl val="true"/>
                </a:rPr>
                <a:t>יה ותיקון שגיאות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3847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8626" y="762000"/>
            <a:ext cx="8116374" cy="2102111"/>
            <a:chOff x="0" y="0"/>
            <a:chExt cx="2137646" cy="553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646" cy="553642"/>
            </a:xfrm>
            <a:custGeom>
              <a:avLst/>
              <a:gdLst/>
              <a:ahLst/>
              <a:cxnLst/>
              <a:rect r="r" b="b" t="t" l="l"/>
              <a:pathLst>
                <a:path h="553642" w="2137646">
                  <a:moveTo>
                    <a:pt x="23847" y="0"/>
                  </a:moveTo>
                  <a:lnTo>
                    <a:pt x="2113799" y="0"/>
                  </a:lnTo>
                  <a:cubicBezTo>
                    <a:pt x="2120124" y="0"/>
                    <a:pt x="2126189" y="2512"/>
                    <a:pt x="2130661" y="6985"/>
                  </a:cubicBezTo>
                  <a:cubicBezTo>
                    <a:pt x="2135133" y="11457"/>
                    <a:pt x="2137646" y="17522"/>
                    <a:pt x="2137646" y="23847"/>
                  </a:cubicBezTo>
                  <a:lnTo>
                    <a:pt x="2137646" y="529796"/>
                  </a:lnTo>
                  <a:cubicBezTo>
                    <a:pt x="2137646" y="542966"/>
                    <a:pt x="2126969" y="553642"/>
                    <a:pt x="2113799" y="553642"/>
                  </a:cubicBezTo>
                  <a:lnTo>
                    <a:pt x="23847" y="553642"/>
                  </a:lnTo>
                  <a:cubicBezTo>
                    <a:pt x="17522" y="553642"/>
                    <a:pt x="11457" y="551130"/>
                    <a:pt x="6985" y="546658"/>
                  </a:cubicBezTo>
                  <a:cubicBezTo>
                    <a:pt x="2512" y="542186"/>
                    <a:pt x="0" y="536120"/>
                    <a:pt x="0" y="529796"/>
                  </a:cubicBezTo>
                  <a:lnTo>
                    <a:pt x="0" y="23847"/>
                  </a:lnTo>
                  <a:cubicBezTo>
                    <a:pt x="0" y="17522"/>
                    <a:pt x="2512" y="11457"/>
                    <a:pt x="6985" y="6985"/>
                  </a:cubicBezTo>
                  <a:cubicBezTo>
                    <a:pt x="11457" y="2512"/>
                    <a:pt x="17522" y="0"/>
                    <a:pt x="23847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37646" cy="65841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6049"/>
                </a:lnSpc>
              </a:pPr>
              <a:r>
                <a:rPr lang="en-US" sz="5499" b="tru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Hilbert Space </a:t>
              </a:r>
            </a:p>
            <a:p>
              <a:pPr algn="l" marL="0" indent="0" lvl="0">
                <a:lnSpc>
                  <a:spcPts val="5280"/>
                </a:lnSpc>
              </a:pPr>
              <a:r>
                <a:rPr lang="en-US" b="true" sz="4800">
                  <a:solidFill>
                    <a:srgbClr val="000001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WHAT?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06000" y="762000"/>
            <a:ext cx="6973374" cy="2095500"/>
            <a:chOff x="0" y="0"/>
            <a:chExt cx="1836609" cy="551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6609" cy="551901"/>
            </a:xfrm>
            <a:custGeom>
              <a:avLst/>
              <a:gdLst/>
              <a:ahLst/>
              <a:cxnLst/>
              <a:rect r="r" b="b" t="t" l="l"/>
              <a:pathLst>
                <a:path h="551901" w="1836609">
                  <a:moveTo>
                    <a:pt x="27755" y="0"/>
                  </a:moveTo>
                  <a:lnTo>
                    <a:pt x="1808853" y="0"/>
                  </a:lnTo>
                  <a:cubicBezTo>
                    <a:pt x="1816215" y="0"/>
                    <a:pt x="1823274" y="2924"/>
                    <a:pt x="1828479" y="8129"/>
                  </a:cubicBezTo>
                  <a:cubicBezTo>
                    <a:pt x="1833684" y="13334"/>
                    <a:pt x="1836609" y="20394"/>
                    <a:pt x="1836609" y="27755"/>
                  </a:cubicBezTo>
                  <a:lnTo>
                    <a:pt x="1836609" y="524146"/>
                  </a:lnTo>
                  <a:cubicBezTo>
                    <a:pt x="1836609" y="531507"/>
                    <a:pt x="1833684" y="538567"/>
                    <a:pt x="1828479" y="543772"/>
                  </a:cubicBezTo>
                  <a:cubicBezTo>
                    <a:pt x="1823274" y="548977"/>
                    <a:pt x="1816215" y="551901"/>
                    <a:pt x="1808853" y="551901"/>
                  </a:cubicBezTo>
                  <a:lnTo>
                    <a:pt x="27755" y="551901"/>
                  </a:lnTo>
                  <a:cubicBezTo>
                    <a:pt x="20394" y="551901"/>
                    <a:pt x="13334" y="548977"/>
                    <a:pt x="8129" y="543772"/>
                  </a:cubicBezTo>
                  <a:cubicBezTo>
                    <a:pt x="2924" y="538567"/>
                    <a:pt x="0" y="531507"/>
                    <a:pt x="0" y="524146"/>
                  </a:cubicBezTo>
                  <a:lnTo>
                    <a:pt x="0" y="27755"/>
                  </a:lnTo>
                  <a:cubicBezTo>
                    <a:pt x="0" y="20394"/>
                    <a:pt x="2924" y="13334"/>
                    <a:pt x="8129" y="8129"/>
                  </a:cubicBezTo>
                  <a:cubicBezTo>
                    <a:pt x="13334" y="2924"/>
                    <a:pt x="20394" y="0"/>
                    <a:pt x="27755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36609" cy="59952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rtl="true" marL="0" indent="0" lvl="0">
                <a:lnSpc>
                  <a:spcPts val="5979"/>
                </a:lnSpc>
              </a:pPr>
              <a:r>
                <a:rPr lang="he-IL" sz="4599">
                  <a:solidFill>
                    <a:srgbClr val="000000"/>
                  </a:solidFill>
                  <a:latin typeface="Gveret Levin"/>
                  <a:ea typeface="Gveret Levin"/>
                  <a:cs typeface="Gveret Levin"/>
                  <a:sym typeface="Gveret Levin"/>
                  <a:rtl val="true"/>
                </a:rPr>
                <a:t>הגדרה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8626" y="3143250"/>
            <a:ext cx="15470747" cy="2000250"/>
            <a:chOff x="0" y="0"/>
            <a:chExt cx="5243644" cy="6779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3643" cy="677963"/>
            </a:xfrm>
            <a:custGeom>
              <a:avLst/>
              <a:gdLst/>
              <a:ahLst/>
              <a:cxnLst/>
              <a:rect r="r" b="b" t="t" l="l"/>
              <a:pathLst>
                <a:path h="677963" w="5243643">
                  <a:moveTo>
                    <a:pt x="12511" y="0"/>
                  </a:moveTo>
                  <a:lnTo>
                    <a:pt x="5231133" y="0"/>
                  </a:lnTo>
                  <a:cubicBezTo>
                    <a:pt x="5234451" y="0"/>
                    <a:pt x="5237633" y="1318"/>
                    <a:pt x="5239979" y="3664"/>
                  </a:cubicBezTo>
                  <a:cubicBezTo>
                    <a:pt x="5242325" y="6010"/>
                    <a:pt x="5243643" y="9193"/>
                    <a:pt x="5243643" y="12511"/>
                  </a:cubicBezTo>
                  <a:lnTo>
                    <a:pt x="5243643" y="665453"/>
                  </a:lnTo>
                  <a:cubicBezTo>
                    <a:pt x="5243643" y="668771"/>
                    <a:pt x="5242325" y="671953"/>
                    <a:pt x="5239979" y="674299"/>
                  </a:cubicBezTo>
                  <a:cubicBezTo>
                    <a:pt x="5237633" y="676645"/>
                    <a:pt x="5234451" y="677963"/>
                    <a:pt x="5231133" y="677963"/>
                  </a:cubicBezTo>
                  <a:lnTo>
                    <a:pt x="12511" y="677963"/>
                  </a:lnTo>
                  <a:cubicBezTo>
                    <a:pt x="9193" y="677963"/>
                    <a:pt x="6010" y="676645"/>
                    <a:pt x="3664" y="674299"/>
                  </a:cubicBezTo>
                  <a:cubicBezTo>
                    <a:pt x="1318" y="671953"/>
                    <a:pt x="0" y="668771"/>
                    <a:pt x="0" y="665453"/>
                  </a:cubicBezTo>
                  <a:lnTo>
                    <a:pt x="0" y="12511"/>
                  </a:lnTo>
                  <a:cubicBezTo>
                    <a:pt x="0" y="9193"/>
                    <a:pt x="1318" y="6010"/>
                    <a:pt x="3664" y="3664"/>
                  </a:cubicBezTo>
                  <a:cubicBezTo>
                    <a:pt x="6010" y="1318"/>
                    <a:pt x="9193" y="0"/>
                    <a:pt x="125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43644" cy="71606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93397" y="3880842"/>
            <a:ext cx="3619500" cy="815403"/>
            <a:chOff x="0" y="0"/>
            <a:chExt cx="1226791" cy="276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6791" cy="276372"/>
            </a:xfrm>
            <a:custGeom>
              <a:avLst/>
              <a:gdLst/>
              <a:ahLst/>
              <a:cxnLst/>
              <a:rect r="r" b="b" t="t" l="l"/>
              <a:pathLst>
                <a:path h="276372" w="1226791">
                  <a:moveTo>
                    <a:pt x="53474" y="0"/>
                  </a:moveTo>
                  <a:lnTo>
                    <a:pt x="1173317" y="0"/>
                  </a:lnTo>
                  <a:cubicBezTo>
                    <a:pt x="1202850" y="0"/>
                    <a:pt x="1226791" y="23941"/>
                    <a:pt x="1226791" y="53474"/>
                  </a:cubicBezTo>
                  <a:lnTo>
                    <a:pt x="1226791" y="222898"/>
                  </a:lnTo>
                  <a:cubicBezTo>
                    <a:pt x="1226791" y="252431"/>
                    <a:pt x="1202850" y="276372"/>
                    <a:pt x="1173317" y="276372"/>
                  </a:cubicBezTo>
                  <a:lnTo>
                    <a:pt x="53474" y="276372"/>
                  </a:lnTo>
                  <a:cubicBezTo>
                    <a:pt x="23941" y="276372"/>
                    <a:pt x="0" y="252431"/>
                    <a:pt x="0" y="222898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solidFill>
              <a:srgbClr val="00000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226791" cy="26684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b="true" sz="3499">
                  <a:solidFill>
                    <a:srgbClr val="FFFFFF"/>
                  </a:solidFill>
                  <a:latin typeface="Miriam Libre Bold"/>
                  <a:ea typeface="Miriam Libre Bold"/>
                  <a:cs typeface="Miriam Libre Bold"/>
                  <a:sym typeface="Miriam Libre Bold"/>
                  <a:rtl val="true"/>
                </a:rPr>
                <a:t>מרחב וקטורי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8626" y="5357812"/>
            <a:ext cx="15470747" cy="2000250"/>
            <a:chOff x="0" y="0"/>
            <a:chExt cx="5243644" cy="6779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3643" cy="677963"/>
            </a:xfrm>
            <a:custGeom>
              <a:avLst/>
              <a:gdLst/>
              <a:ahLst/>
              <a:cxnLst/>
              <a:rect r="r" b="b" t="t" l="l"/>
              <a:pathLst>
                <a:path h="677963" w="5243643">
                  <a:moveTo>
                    <a:pt x="12511" y="0"/>
                  </a:moveTo>
                  <a:lnTo>
                    <a:pt x="5231133" y="0"/>
                  </a:lnTo>
                  <a:cubicBezTo>
                    <a:pt x="5234451" y="0"/>
                    <a:pt x="5237633" y="1318"/>
                    <a:pt x="5239979" y="3664"/>
                  </a:cubicBezTo>
                  <a:cubicBezTo>
                    <a:pt x="5242325" y="6010"/>
                    <a:pt x="5243643" y="9193"/>
                    <a:pt x="5243643" y="12511"/>
                  </a:cubicBezTo>
                  <a:lnTo>
                    <a:pt x="5243643" y="665453"/>
                  </a:lnTo>
                  <a:cubicBezTo>
                    <a:pt x="5243643" y="668771"/>
                    <a:pt x="5242325" y="671953"/>
                    <a:pt x="5239979" y="674299"/>
                  </a:cubicBezTo>
                  <a:cubicBezTo>
                    <a:pt x="5237633" y="676645"/>
                    <a:pt x="5234451" y="677963"/>
                    <a:pt x="5231133" y="677963"/>
                  </a:cubicBezTo>
                  <a:lnTo>
                    <a:pt x="12511" y="677963"/>
                  </a:lnTo>
                  <a:cubicBezTo>
                    <a:pt x="9193" y="677963"/>
                    <a:pt x="6010" y="676645"/>
                    <a:pt x="3664" y="674299"/>
                  </a:cubicBezTo>
                  <a:cubicBezTo>
                    <a:pt x="1318" y="671953"/>
                    <a:pt x="0" y="668771"/>
                    <a:pt x="0" y="665453"/>
                  </a:cubicBezTo>
                  <a:lnTo>
                    <a:pt x="0" y="12511"/>
                  </a:lnTo>
                  <a:cubicBezTo>
                    <a:pt x="0" y="9193"/>
                    <a:pt x="1318" y="6010"/>
                    <a:pt x="3664" y="3664"/>
                  </a:cubicBezTo>
                  <a:cubicBezTo>
                    <a:pt x="6010" y="1318"/>
                    <a:pt x="9193" y="0"/>
                    <a:pt x="125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43644" cy="71606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93397" y="6162675"/>
            <a:ext cx="3619500" cy="824929"/>
            <a:chOff x="0" y="0"/>
            <a:chExt cx="1226791" cy="2796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791" cy="279601"/>
            </a:xfrm>
            <a:custGeom>
              <a:avLst/>
              <a:gdLst/>
              <a:ahLst/>
              <a:cxnLst/>
              <a:rect r="r" b="b" t="t" l="l"/>
              <a:pathLst>
                <a:path h="279601" w="1226791">
                  <a:moveTo>
                    <a:pt x="53474" y="0"/>
                  </a:moveTo>
                  <a:lnTo>
                    <a:pt x="1173317" y="0"/>
                  </a:lnTo>
                  <a:cubicBezTo>
                    <a:pt x="1202850" y="0"/>
                    <a:pt x="1226791" y="23941"/>
                    <a:pt x="1226791" y="53474"/>
                  </a:cubicBezTo>
                  <a:lnTo>
                    <a:pt x="1226791" y="226127"/>
                  </a:lnTo>
                  <a:cubicBezTo>
                    <a:pt x="1226791" y="255660"/>
                    <a:pt x="1202850" y="279601"/>
                    <a:pt x="1173317" y="279601"/>
                  </a:cubicBezTo>
                  <a:lnTo>
                    <a:pt x="53474" y="279601"/>
                  </a:lnTo>
                  <a:cubicBezTo>
                    <a:pt x="23941" y="279601"/>
                    <a:pt x="0" y="255660"/>
                    <a:pt x="0" y="226127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solidFill>
              <a:srgbClr val="00000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26791" cy="279601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he-IL" b="true" sz="3500">
                  <a:solidFill>
                    <a:srgbClr val="FFFFFF"/>
                  </a:solidFill>
                  <a:latin typeface="Miriam Libre Bold"/>
                  <a:ea typeface="Miriam Libre Bold"/>
                  <a:cs typeface="Miriam Libre Bold"/>
                  <a:sym typeface="Miriam Libre Bold"/>
                  <a:rtl val="true"/>
                </a:rPr>
                <a:t>מכפלה פנימית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8626" y="7524750"/>
            <a:ext cx="15470747" cy="2000250"/>
            <a:chOff x="0" y="0"/>
            <a:chExt cx="5243644" cy="6779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3643" cy="677963"/>
            </a:xfrm>
            <a:custGeom>
              <a:avLst/>
              <a:gdLst/>
              <a:ahLst/>
              <a:cxnLst/>
              <a:rect r="r" b="b" t="t" l="l"/>
              <a:pathLst>
                <a:path h="677963" w="5243643">
                  <a:moveTo>
                    <a:pt x="12511" y="0"/>
                  </a:moveTo>
                  <a:lnTo>
                    <a:pt x="5231133" y="0"/>
                  </a:lnTo>
                  <a:cubicBezTo>
                    <a:pt x="5234451" y="0"/>
                    <a:pt x="5237633" y="1318"/>
                    <a:pt x="5239979" y="3664"/>
                  </a:cubicBezTo>
                  <a:cubicBezTo>
                    <a:pt x="5242325" y="6010"/>
                    <a:pt x="5243643" y="9193"/>
                    <a:pt x="5243643" y="12511"/>
                  </a:cubicBezTo>
                  <a:lnTo>
                    <a:pt x="5243643" y="665453"/>
                  </a:lnTo>
                  <a:cubicBezTo>
                    <a:pt x="5243643" y="668771"/>
                    <a:pt x="5242325" y="671953"/>
                    <a:pt x="5239979" y="674299"/>
                  </a:cubicBezTo>
                  <a:cubicBezTo>
                    <a:pt x="5237633" y="676645"/>
                    <a:pt x="5234451" y="677963"/>
                    <a:pt x="5231133" y="677963"/>
                  </a:cubicBezTo>
                  <a:lnTo>
                    <a:pt x="12511" y="677963"/>
                  </a:lnTo>
                  <a:cubicBezTo>
                    <a:pt x="9193" y="677963"/>
                    <a:pt x="6010" y="676645"/>
                    <a:pt x="3664" y="674299"/>
                  </a:cubicBezTo>
                  <a:cubicBezTo>
                    <a:pt x="1318" y="671953"/>
                    <a:pt x="0" y="668771"/>
                    <a:pt x="0" y="665453"/>
                  </a:cubicBezTo>
                  <a:lnTo>
                    <a:pt x="0" y="12511"/>
                  </a:lnTo>
                  <a:cubicBezTo>
                    <a:pt x="0" y="9193"/>
                    <a:pt x="1318" y="6010"/>
                    <a:pt x="3664" y="3664"/>
                  </a:cubicBezTo>
                  <a:cubicBezTo>
                    <a:pt x="6010" y="1318"/>
                    <a:pt x="9193" y="0"/>
                    <a:pt x="125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43644" cy="71606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93397" y="8262342"/>
            <a:ext cx="3619500" cy="824929"/>
            <a:chOff x="0" y="0"/>
            <a:chExt cx="1226791" cy="2796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6791" cy="279601"/>
            </a:xfrm>
            <a:custGeom>
              <a:avLst/>
              <a:gdLst/>
              <a:ahLst/>
              <a:cxnLst/>
              <a:rect r="r" b="b" t="t" l="l"/>
              <a:pathLst>
                <a:path h="279601" w="1226791">
                  <a:moveTo>
                    <a:pt x="53474" y="0"/>
                  </a:moveTo>
                  <a:lnTo>
                    <a:pt x="1173317" y="0"/>
                  </a:lnTo>
                  <a:cubicBezTo>
                    <a:pt x="1202850" y="0"/>
                    <a:pt x="1226791" y="23941"/>
                    <a:pt x="1226791" y="53474"/>
                  </a:cubicBezTo>
                  <a:lnTo>
                    <a:pt x="1226791" y="226127"/>
                  </a:lnTo>
                  <a:cubicBezTo>
                    <a:pt x="1226791" y="255660"/>
                    <a:pt x="1202850" y="279601"/>
                    <a:pt x="1173317" y="279601"/>
                  </a:cubicBezTo>
                  <a:lnTo>
                    <a:pt x="53474" y="279601"/>
                  </a:lnTo>
                  <a:cubicBezTo>
                    <a:pt x="23941" y="279601"/>
                    <a:pt x="0" y="255660"/>
                    <a:pt x="0" y="226127"/>
                  </a:cubicBezTo>
                  <a:lnTo>
                    <a:pt x="0" y="53474"/>
                  </a:lnTo>
                  <a:cubicBezTo>
                    <a:pt x="0" y="23941"/>
                    <a:pt x="23941" y="0"/>
                    <a:pt x="53474" y="0"/>
                  </a:cubicBezTo>
                  <a:close/>
                </a:path>
              </a:pathLst>
            </a:custGeom>
            <a:solidFill>
              <a:srgbClr val="00000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226791" cy="279601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rtl="true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he-IL" b="true" sz="3500">
                  <a:solidFill>
                    <a:srgbClr val="FFFFFF"/>
                  </a:solidFill>
                  <a:latin typeface="Miriam Libre Bold"/>
                  <a:ea typeface="Miriam Libre Bold"/>
                  <a:cs typeface="Miriam Libre Bold"/>
                  <a:sym typeface="Miriam Libre Bold"/>
                  <a:rtl val="true"/>
                </a:rPr>
                <a:t>שלמות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35309" y="5613284"/>
            <a:ext cx="3744439" cy="1441682"/>
            <a:chOff x="0" y="0"/>
            <a:chExt cx="986190" cy="3797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6190" cy="379702"/>
            </a:xfrm>
            <a:custGeom>
              <a:avLst/>
              <a:gdLst/>
              <a:ahLst/>
              <a:cxnLst/>
              <a:rect r="r" b="b" t="t" l="l"/>
              <a:pathLst>
                <a:path h="379702" w="986190">
                  <a:moveTo>
                    <a:pt x="51689" y="0"/>
                  </a:moveTo>
                  <a:lnTo>
                    <a:pt x="934500" y="0"/>
                  </a:lnTo>
                  <a:cubicBezTo>
                    <a:pt x="948209" y="0"/>
                    <a:pt x="961356" y="5446"/>
                    <a:pt x="971050" y="15139"/>
                  </a:cubicBezTo>
                  <a:cubicBezTo>
                    <a:pt x="980744" y="24833"/>
                    <a:pt x="986190" y="37981"/>
                    <a:pt x="986190" y="51689"/>
                  </a:cubicBezTo>
                  <a:lnTo>
                    <a:pt x="986190" y="328013"/>
                  </a:lnTo>
                  <a:cubicBezTo>
                    <a:pt x="986190" y="356560"/>
                    <a:pt x="963047" y="379702"/>
                    <a:pt x="934500" y="379702"/>
                  </a:cubicBezTo>
                  <a:lnTo>
                    <a:pt x="51689" y="379702"/>
                  </a:lnTo>
                  <a:cubicBezTo>
                    <a:pt x="37981" y="379702"/>
                    <a:pt x="24833" y="374257"/>
                    <a:pt x="15139" y="364563"/>
                  </a:cubicBezTo>
                  <a:cubicBezTo>
                    <a:pt x="5446" y="354869"/>
                    <a:pt x="0" y="341722"/>
                    <a:pt x="0" y="328013"/>
                  </a:cubicBezTo>
                  <a:lnTo>
                    <a:pt x="0" y="51689"/>
                  </a:lnTo>
                  <a:cubicBezTo>
                    <a:pt x="0" y="37981"/>
                    <a:pt x="5446" y="24833"/>
                    <a:pt x="15139" y="15139"/>
                  </a:cubicBezTo>
                  <a:cubicBezTo>
                    <a:pt x="24833" y="5446"/>
                    <a:pt x="37981" y="0"/>
                    <a:pt x="51689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86190" cy="4082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rtl="true" marL="0" indent="0" lvl="0">
                <a:lnSpc>
                  <a:spcPts val="3640"/>
                </a:lnSpc>
              </a:pPr>
              <a:r>
                <a:rPr lang="he-IL" sz="2800">
                  <a:solidFill>
                    <a:srgbClr val="000001"/>
                  </a:solidFill>
                  <a:latin typeface="Gveret Levin"/>
                  <a:ea typeface="Gveret Levin"/>
                  <a:cs typeface="Gveret Levin"/>
                  <a:sym typeface="Gveret Levin"/>
                  <a:rtl val="true"/>
                </a:rPr>
                <a:t>בדיקת אורתוגונליות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52781" y="5637096"/>
            <a:ext cx="3744439" cy="1441682"/>
            <a:chOff x="0" y="0"/>
            <a:chExt cx="986190" cy="3797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6190" cy="379702"/>
            </a:xfrm>
            <a:custGeom>
              <a:avLst/>
              <a:gdLst/>
              <a:ahLst/>
              <a:cxnLst/>
              <a:rect r="r" b="b" t="t" l="l"/>
              <a:pathLst>
                <a:path h="379702" w="986190">
                  <a:moveTo>
                    <a:pt x="51689" y="0"/>
                  </a:moveTo>
                  <a:lnTo>
                    <a:pt x="934500" y="0"/>
                  </a:lnTo>
                  <a:cubicBezTo>
                    <a:pt x="948209" y="0"/>
                    <a:pt x="961356" y="5446"/>
                    <a:pt x="971050" y="15139"/>
                  </a:cubicBezTo>
                  <a:cubicBezTo>
                    <a:pt x="980744" y="24833"/>
                    <a:pt x="986190" y="37981"/>
                    <a:pt x="986190" y="51689"/>
                  </a:cubicBezTo>
                  <a:lnTo>
                    <a:pt x="986190" y="328013"/>
                  </a:lnTo>
                  <a:cubicBezTo>
                    <a:pt x="986190" y="356560"/>
                    <a:pt x="963047" y="379702"/>
                    <a:pt x="934500" y="379702"/>
                  </a:cubicBezTo>
                  <a:lnTo>
                    <a:pt x="51689" y="379702"/>
                  </a:lnTo>
                  <a:cubicBezTo>
                    <a:pt x="37981" y="379702"/>
                    <a:pt x="24833" y="374257"/>
                    <a:pt x="15139" y="364563"/>
                  </a:cubicBezTo>
                  <a:cubicBezTo>
                    <a:pt x="5446" y="354869"/>
                    <a:pt x="0" y="341722"/>
                    <a:pt x="0" y="328013"/>
                  </a:cubicBezTo>
                  <a:lnTo>
                    <a:pt x="0" y="51689"/>
                  </a:lnTo>
                  <a:cubicBezTo>
                    <a:pt x="0" y="37981"/>
                    <a:pt x="5446" y="24833"/>
                    <a:pt x="15139" y="15139"/>
                  </a:cubicBezTo>
                  <a:cubicBezTo>
                    <a:pt x="24833" y="5446"/>
                    <a:pt x="37981" y="0"/>
                    <a:pt x="51689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86190" cy="4082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rtl="true" marL="0" indent="0" lvl="0">
                <a:lnSpc>
                  <a:spcPts val="3640"/>
                </a:lnSpc>
              </a:pPr>
              <a:r>
                <a:rPr lang="he-IL" sz="2800">
                  <a:solidFill>
                    <a:srgbClr val="000001"/>
                  </a:solidFill>
                  <a:latin typeface="Gveret Levin"/>
                  <a:ea typeface="Gveret Levin"/>
                  <a:cs typeface="Gveret Levin"/>
                  <a:sym typeface="Gveret Levin"/>
                  <a:rtl val="true"/>
                </a:rPr>
                <a:t>חישוב נורמה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52781" y="3390120"/>
            <a:ext cx="3744439" cy="1441682"/>
            <a:chOff x="0" y="0"/>
            <a:chExt cx="986190" cy="3797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6190" cy="379702"/>
            </a:xfrm>
            <a:custGeom>
              <a:avLst/>
              <a:gdLst/>
              <a:ahLst/>
              <a:cxnLst/>
              <a:rect r="r" b="b" t="t" l="l"/>
              <a:pathLst>
                <a:path h="379702" w="986190">
                  <a:moveTo>
                    <a:pt x="51689" y="0"/>
                  </a:moveTo>
                  <a:lnTo>
                    <a:pt x="934500" y="0"/>
                  </a:lnTo>
                  <a:cubicBezTo>
                    <a:pt x="948209" y="0"/>
                    <a:pt x="961356" y="5446"/>
                    <a:pt x="971050" y="15139"/>
                  </a:cubicBezTo>
                  <a:cubicBezTo>
                    <a:pt x="980744" y="24833"/>
                    <a:pt x="986190" y="37981"/>
                    <a:pt x="986190" y="51689"/>
                  </a:cubicBezTo>
                  <a:lnTo>
                    <a:pt x="986190" y="328013"/>
                  </a:lnTo>
                  <a:cubicBezTo>
                    <a:pt x="986190" y="356560"/>
                    <a:pt x="963047" y="379702"/>
                    <a:pt x="934500" y="379702"/>
                  </a:cubicBezTo>
                  <a:lnTo>
                    <a:pt x="51689" y="379702"/>
                  </a:lnTo>
                  <a:cubicBezTo>
                    <a:pt x="37981" y="379702"/>
                    <a:pt x="24833" y="374257"/>
                    <a:pt x="15139" y="364563"/>
                  </a:cubicBezTo>
                  <a:cubicBezTo>
                    <a:pt x="5446" y="354869"/>
                    <a:pt x="0" y="341722"/>
                    <a:pt x="0" y="328013"/>
                  </a:cubicBezTo>
                  <a:lnTo>
                    <a:pt x="0" y="51689"/>
                  </a:lnTo>
                  <a:cubicBezTo>
                    <a:pt x="0" y="37981"/>
                    <a:pt x="5446" y="24833"/>
                    <a:pt x="15139" y="15139"/>
                  </a:cubicBezTo>
                  <a:cubicBezTo>
                    <a:pt x="24833" y="5446"/>
                    <a:pt x="37981" y="0"/>
                    <a:pt x="51689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86190" cy="4082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rtl="true" marL="0" indent="0" lvl="0">
                <a:lnSpc>
                  <a:spcPts val="3640"/>
                </a:lnSpc>
              </a:pPr>
              <a:r>
                <a:rPr lang="he-IL" sz="2800">
                  <a:solidFill>
                    <a:srgbClr val="000001"/>
                  </a:solidFill>
                  <a:latin typeface="Gveret Levin"/>
                  <a:ea typeface="Gveret Levin"/>
                  <a:cs typeface="Gveret Levin"/>
                  <a:sym typeface="Gveret Levin"/>
                  <a:rtl val="true"/>
                </a:rPr>
                <a:t>ניתן לבצע חיבור וכפל כמו בין וקטורים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52781" y="7804034"/>
            <a:ext cx="3744439" cy="1441682"/>
            <a:chOff x="0" y="0"/>
            <a:chExt cx="986190" cy="3797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6190" cy="379702"/>
            </a:xfrm>
            <a:custGeom>
              <a:avLst/>
              <a:gdLst/>
              <a:ahLst/>
              <a:cxnLst/>
              <a:rect r="r" b="b" t="t" l="l"/>
              <a:pathLst>
                <a:path h="379702" w="986190">
                  <a:moveTo>
                    <a:pt x="51689" y="0"/>
                  </a:moveTo>
                  <a:lnTo>
                    <a:pt x="934500" y="0"/>
                  </a:lnTo>
                  <a:cubicBezTo>
                    <a:pt x="948209" y="0"/>
                    <a:pt x="961356" y="5446"/>
                    <a:pt x="971050" y="15139"/>
                  </a:cubicBezTo>
                  <a:cubicBezTo>
                    <a:pt x="980744" y="24833"/>
                    <a:pt x="986190" y="37981"/>
                    <a:pt x="986190" y="51689"/>
                  </a:cubicBezTo>
                  <a:lnTo>
                    <a:pt x="986190" y="328013"/>
                  </a:lnTo>
                  <a:cubicBezTo>
                    <a:pt x="986190" y="356560"/>
                    <a:pt x="963047" y="379702"/>
                    <a:pt x="934500" y="379702"/>
                  </a:cubicBezTo>
                  <a:lnTo>
                    <a:pt x="51689" y="379702"/>
                  </a:lnTo>
                  <a:cubicBezTo>
                    <a:pt x="37981" y="379702"/>
                    <a:pt x="24833" y="374257"/>
                    <a:pt x="15139" y="364563"/>
                  </a:cubicBezTo>
                  <a:cubicBezTo>
                    <a:pt x="5446" y="354869"/>
                    <a:pt x="0" y="341722"/>
                    <a:pt x="0" y="328013"/>
                  </a:cubicBezTo>
                  <a:lnTo>
                    <a:pt x="0" y="51689"/>
                  </a:lnTo>
                  <a:cubicBezTo>
                    <a:pt x="0" y="37981"/>
                    <a:pt x="5446" y="24833"/>
                    <a:pt x="15139" y="15139"/>
                  </a:cubicBezTo>
                  <a:cubicBezTo>
                    <a:pt x="24833" y="5446"/>
                    <a:pt x="37981" y="0"/>
                    <a:pt x="51689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86190" cy="40827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rtl="true" marL="0" indent="0" lvl="0">
                <a:lnSpc>
                  <a:spcPts val="3640"/>
                </a:lnSpc>
              </a:pPr>
              <a:r>
                <a:rPr lang="he-IL" sz="2800">
                  <a:solidFill>
                    <a:srgbClr val="000001"/>
                  </a:solidFill>
                  <a:latin typeface="Gveret Levin"/>
                  <a:ea typeface="Gveret Levin"/>
                  <a:cs typeface="Gveret Levin"/>
                  <a:sym typeface="Gveret Levin"/>
                  <a:rtl val="true"/>
                </a:rPr>
                <a:t>התכנסות לאות במרחב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CC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6366" y="1456922"/>
            <a:ext cx="7582445" cy="7567144"/>
            <a:chOff x="0" y="0"/>
            <a:chExt cx="2034004" cy="2029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4004" cy="2029900"/>
            </a:xfrm>
            <a:custGeom>
              <a:avLst/>
              <a:gdLst/>
              <a:ahLst/>
              <a:cxnLst/>
              <a:rect r="r" b="b" t="t" l="l"/>
              <a:pathLst>
                <a:path h="2029900" w="2034004">
                  <a:moveTo>
                    <a:pt x="25526" y="0"/>
                  </a:moveTo>
                  <a:lnTo>
                    <a:pt x="2008479" y="0"/>
                  </a:lnTo>
                  <a:cubicBezTo>
                    <a:pt x="2022576" y="0"/>
                    <a:pt x="2034004" y="11428"/>
                    <a:pt x="2034004" y="25526"/>
                  </a:cubicBezTo>
                  <a:lnTo>
                    <a:pt x="2034004" y="2004374"/>
                  </a:lnTo>
                  <a:cubicBezTo>
                    <a:pt x="2034004" y="2018472"/>
                    <a:pt x="2022576" y="2029900"/>
                    <a:pt x="2008479" y="2029900"/>
                  </a:cubicBezTo>
                  <a:lnTo>
                    <a:pt x="25526" y="2029900"/>
                  </a:lnTo>
                  <a:cubicBezTo>
                    <a:pt x="11428" y="2029900"/>
                    <a:pt x="0" y="2018472"/>
                    <a:pt x="0" y="2004374"/>
                  </a:cubicBezTo>
                  <a:lnTo>
                    <a:pt x="0" y="25526"/>
                  </a:lnTo>
                  <a:cubicBezTo>
                    <a:pt x="0" y="11428"/>
                    <a:pt x="11428" y="0"/>
                    <a:pt x="255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034004" cy="199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  <a:r>
                <a:rPr lang="en-US" b="true" sz="244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WITH THE HELP OF YOUR TEACHER OR CARER,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4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 WHETHER YOUR SUGGESTIONS AND DRAWINGS WILL MAKE THE BULB LIGHT USING ACTUAL BATTERIES, A SMALL LIGHTBULB, AND WIRES.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38845" y="5410200"/>
            <a:ext cx="3366655" cy="4114800"/>
          </a:xfrm>
          <a:custGeom>
            <a:avLst/>
            <a:gdLst/>
            <a:ahLst/>
            <a:cxnLst/>
            <a:rect r="r" b="b" t="t" l="l"/>
            <a:pathLst>
              <a:path h="4114800" w="3366655">
                <a:moveTo>
                  <a:pt x="0" y="0"/>
                </a:moveTo>
                <a:lnTo>
                  <a:pt x="3366655" y="0"/>
                </a:lnTo>
                <a:lnTo>
                  <a:pt x="33666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13172" y="36690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0468" y="3755660"/>
            <a:ext cx="4697304" cy="2775680"/>
          </a:xfrm>
          <a:custGeom>
            <a:avLst/>
            <a:gdLst/>
            <a:ahLst/>
            <a:cxnLst/>
            <a:rect r="r" b="b" t="t" l="l"/>
            <a:pathLst>
              <a:path h="2775680" w="4697304">
                <a:moveTo>
                  <a:pt x="0" y="0"/>
                </a:moveTo>
                <a:lnTo>
                  <a:pt x="4697305" y="0"/>
                </a:lnTo>
                <a:lnTo>
                  <a:pt x="4697305" y="2775680"/>
                </a:lnTo>
                <a:lnTo>
                  <a:pt x="0" y="2775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80088" y="2364262"/>
            <a:ext cx="5715000" cy="6091875"/>
            <a:chOff x="0" y="0"/>
            <a:chExt cx="7620000" cy="81225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71450"/>
              <a:ext cx="7620000" cy="702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9900"/>
                </a:lnSpc>
              </a:pPr>
              <a:r>
                <a:rPr lang="he-IL" sz="9000" b="tru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  <a:rtl val="true"/>
                </a:rPr>
                <a:t>בקיצור</a:t>
              </a:r>
            </a:p>
            <a:p>
              <a:pPr algn="r" rtl="true">
                <a:lnSpc>
                  <a:spcPts val="9900"/>
                </a:lnSpc>
              </a:pPr>
            </a:p>
            <a:p>
              <a:pPr algn="r" rtl="true">
                <a:lnSpc>
                  <a:spcPts val="9900"/>
                </a:lnSpc>
              </a:pPr>
              <a:r>
                <a:rPr lang="he-IL" b="true" sz="900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  <a:rtl val="true"/>
                </a:rPr>
                <a:t>אחלה הילברט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360500"/>
              <a:ext cx="7620000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45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DAHOP3ut4Zs</dc:identifier>
  <dcterms:modified xsi:type="dcterms:W3CDTF">2011-08-01T06:04:30Z</dcterms:modified>
  <cp:revision>1</cp:revision>
  <dc:title>Circuits Education Presentation in Blue Yellow Flat Cartoon Style</dc:title>
</cp:coreProperties>
</file>